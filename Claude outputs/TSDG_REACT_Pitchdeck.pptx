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Làng nghề Việt Nam còn tay nghề nhưng không có cơ chế định giá công khai, nên giá trị rơi vào tay thương lái và nghề mai một dần.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chịu ảnh hưởng: hộ sản xuất và nghệ nhân làng nghề — hộ kinh doanh phi chính thức, thu nhập theo mùa vụ, không hợp đồng, không BHXH.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Chuỗi giải pháp đảo ngược đúng chuỗi vấn đề ở slide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lý do đấu giá là đúng công cụ cho mặt hàng này, không phải một sàn thương mại điện tử thông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2A"/>
        </a:solidFill>
      </p:bgPr>
    </p:bg>
    <p:spTree>
      <p:nvGrpSpPr>
        <p:cNvPr id="1" name=""/>
        <p:cNvGrpSpPr/>
        <p:nvPr/>
      </p:nvGrpSpPr>
      <p:grpSpPr>
        <a:xfrm>
          <a:off x="0" y="0"/>
          <a:ext cx="0" cy="0"/>
          <a:chOff x="0" y="0"/>
          <a:chExt cx="0" cy="0"/>
        </a:xfrm>
      </p:grpSpPr>
      <p:sp>
        <p:nvSpPr>
          <p:cNvPr id="2" name="Shape 0"/>
          <p:cNvSpPr/>
          <p:nvPr/>
        </p:nvSpPr>
        <p:spPr>
          <a:xfrm>
            <a:off x="6537960" y="-1371600"/>
            <a:ext cx="4206240" cy="4206240"/>
          </a:xfrm>
          <a:prstGeom prst="ellipse">
            <a:avLst/>
          </a:prstGeom>
          <a:solidFill>
            <a:srgbClr val="17573B"/>
          </a:solidFill>
          <a:ln w="12700">
            <a:solidFill>
              <a:srgbClr val="17573B"/>
            </a:solidFill>
            <a:prstDash val="solid"/>
          </a:ln>
        </p:spPr>
      </p:sp>
      <p:sp>
        <p:nvSpPr>
          <p:cNvPr id="3" name="Shape 1"/>
          <p:cNvSpPr/>
          <p:nvPr/>
        </p:nvSpPr>
        <p:spPr>
          <a:xfrm>
            <a:off x="7818120" y="3291840"/>
            <a:ext cx="2194560" cy="2194560"/>
          </a:xfrm>
          <a:prstGeom prst="ellipse">
            <a:avLst/>
          </a:prstGeom>
          <a:solidFill>
            <a:srgbClr val="17573B"/>
          </a:solidFill>
          <a:ln w="12700">
            <a:solidFill>
              <a:srgbClr val="17573B"/>
            </a:solidFill>
            <a:prstDash val="solid"/>
          </a:ln>
        </p:spPr>
      </p:sp>
      <p:sp>
        <p:nvSpPr>
          <p:cNvPr id="4" name="Text 2"/>
          <p:cNvSpPr txBox="1"/>
          <p:nvPr/>
        </p:nvSpPr>
        <p:spPr>
          <a:xfrm>
            <a:off x="502920" y="822960"/>
            <a:ext cx="6035040" cy="256032"/>
          </a:xfrm>
          <a:prstGeom prst="rect">
            <a:avLst/>
          </a:prstGeom>
          <a:noFill/>
          <a:ln/>
        </p:spPr>
        <p:txBody>
          <a:bodyPr wrap="square" lIns="0" tIns="0" rIns="0" bIns="0" rtlCol="0" anchor="ctr"/>
          <a:lstStyle/>
          <a:p>
            <a:pPr indent="0" marL="0">
              <a:buNone/>
            </a:pPr>
            <a:r>
              <a:rPr lang="en-US" sz="1100" b="1" spc="200" kern="0" dirty="0">
                <a:solidFill>
                  <a:srgbClr val="FF7A66"/>
                </a:solidFill>
                <a:latin typeface="Calibri" pitchFamily="34" charset="0"/>
                <a:ea typeface="Calibri" pitchFamily="34" charset="-122"/>
                <a:cs typeface="Calibri" pitchFamily="34" charset="-120"/>
              </a:rPr>
              <a:t>RE:ACT 2026 · HỒ SƠ DỰ THI</a:t>
            </a:r>
            <a:endParaRPr lang="en-US" sz="1100" dirty="0"/>
          </a:p>
        </p:txBody>
      </p:sp>
      <p:sp>
        <p:nvSpPr>
          <p:cNvPr id="5" name="Text 3"/>
          <p:cNvSpPr txBox="1"/>
          <p:nvPr/>
        </p:nvSpPr>
        <p:spPr>
          <a:xfrm>
            <a:off x="502920" y="1188720"/>
            <a:ext cx="603504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Tài Sản Đấu Giá</a:t>
            </a:r>
            <a:endParaRPr lang="en-US" sz="4200" dirty="0"/>
          </a:p>
        </p:txBody>
      </p:sp>
      <p:sp>
        <p:nvSpPr>
          <p:cNvPr id="6" name="Text 4"/>
          <p:cNvSpPr txBox="1"/>
          <p:nvPr/>
        </p:nvSpPr>
        <p:spPr>
          <a:xfrm>
            <a:off x="502920" y="2048256"/>
            <a:ext cx="5760720" cy="384048"/>
          </a:xfrm>
          <a:prstGeom prst="rect">
            <a:avLst/>
          </a:prstGeom>
          <a:noFill/>
          <a:ln/>
        </p:spPr>
        <p:txBody>
          <a:bodyPr wrap="square" lIns="0" tIns="0" rIns="0" bIns="0" rtlCol="0" anchor="ctr"/>
          <a:lstStyle/>
          <a:p>
            <a:pPr indent="0" marL="0">
              <a:buNone/>
            </a:pPr>
            <a:r>
              <a:rPr lang="en-US" sz="1600" dirty="0">
                <a:solidFill>
                  <a:srgbClr val="C7DCCF"/>
                </a:solidFill>
                <a:latin typeface="Calibri" pitchFamily="34" charset="0"/>
                <a:ea typeface="Calibri" pitchFamily="34" charset="-122"/>
                <a:cs typeface="Calibri" pitchFamily="34" charset="-120"/>
              </a:rPr>
              <a:t>Đấu giá tự nguyện cho sản phẩm làng nghề</a:t>
            </a:r>
            <a:endParaRPr lang="en-US" sz="1600" dirty="0"/>
          </a:p>
        </p:txBody>
      </p:sp>
      <p:sp>
        <p:nvSpPr>
          <p:cNvPr id="7" name="Text 5"/>
          <p:cNvSpPr txBox="1"/>
          <p:nvPr/>
        </p:nvSpPr>
        <p:spPr>
          <a:xfrm>
            <a:off x="502920" y="2432304"/>
            <a:ext cx="5760720" cy="384048"/>
          </a:xfrm>
          <a:prstGeom prst="rect">
            <a:avLst/>
          </a:prstGeom>
          <a:noFill/>
          <a:ln/>
        </p:spPr>
        <p:txBody>
          <a:bodyPr wrap="square" lIns="0" tIns="0" rIns="0" bIns="0" rtlCol="0" anchor="ctr"/>
          <a:lstStyle/>
          <a:p>
            <a:pPr indent="0" marL="0">
              <a:buNone/>
            </a:pPr>
            <a:r>
              <a:rPr lang="en-US" sz="1600" dirty="0">
                <a:solidFill>
                  <a:srgbClr val="C7DCCF"/>
                </a:solidFill>
                <a:latin typeface="Calibri" pitchFamily="34" charset="0"/>
                <a:ea typeface="Calibri" pitchFamily="34" charset="-122"/>
                <a:cs typeface="Calibri" pitchFamily="34" charset="-120"/>
              </a:rPr>
              <a:t>Trả quyền định giá về cho người làm ra sản phẩm</a:t>
            </a:r>
            <a:endParaRPr lang="en-US" sz="1600" dirty="0"/>
          </a:p>
        </p:txBody>
      </p:sp>
      <p:sp>
        <p:nvSpPr>
          <p:cNvPr id="8" name="Shape 6"/>
          <p:cNvSpPr/>
          <p:nvPr/>
        </p:nvSpPr>
        <p:spPr>
          <a:xfrm>
            <a:off x="502920" y="3054096"/>
            <a:ext cx="4709160" cy="420624"/>
          </a:xfrm>
          <a:prstGeom prst="roundRect">
            <a:avLst>
              <a:gd name="adj" fmla="val 21739"/>
            </a:avLst>
          </a:prstGeom>
          <a:solidFill>
            <a:srgbClr val="17573B"/>
          </a:solidFill>
          <a:ln w="9525">
            <a:solidFill>
              <a:srgbClr val="2E8B5E"/>
            </a:solidFill>
            <a:prstDash val="solid"/>
          </a:ln>
        </p:spPr>
      </p:sp>
      <p:sp>
        <p:nvSpPr>
          <p:cNvPr id="9" name="Text 7"/>
          <p:cNvSpPr txBox="1"/>
          <p:nvPr/>
        </p:nvSpPr>
        <p:spPr>
          <a:xfrm>
            <a:off x="704088" y="3054096"/>
            <a:ext cx="438912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Nhóm chủ đề 1 · Sinh kế vi mô và phi chính thức</a:t>
            </a:r>
            <a:endParaRPr lang="en-US" sz="1200" dirty="0"/>
          </a:p>
        </p:txBody>
      </p:sp>
      <p:sp>
        <p:nvSpPr>
          <p:cNvPr id="10" name="Text 8"/>
          <p:cNvSpPr txBox="1"/>
          <p:nvPr/>
        </p:nvSpPr>
        <p:spPr>
          <a:xfrm>
            <a:off x="502920" y="4005072"/>
            <a:ext cx="6035040" cy="566928"/>
          </a:xfrm>
          <a:prstGeom prst="rect">
            <a:avLst/>
          </a:prstGeom>
          <a:noFill/>
          <a:ln/>
        </p:spPr>
        <p:txBody>
          <a:bodyPr wrap="square" lIns="0" tIns="0" rIns="0" bIns="0" rtlCol="0" anchor="ctr"/>
          <a:lstStyle/>
          <a:p>
            <a:pPr indent="0" marL="0">
              <a:lnSpc>
                <a:spcPts val="1700"/>
              </a:lnSpc>
              <a:buNone/>
            </a:pPr>
            <a:r>
              <a:rPr lang="en-US" sz="1100" b="1" dirty="0">
                <a:solidFill>
                  <a:srgbClr val="FFFFFF"/>
                </a:solidFill>
                <a:latin typeface="Calibri" pitchFamily="34" charset="0"/>
                <a:ea typeface="Calibri" pitchFamily="34" charset="-122"/>
                <a:cs typeface="Calibri" pitchFamily="34" charset="-120"/>
              </a:rPr>
              <a:t>SS Corp Việt Nam</a:t>
            </a:r>
            <a:endParaRPr lang="en-US" sz="1100" dirty="0"/>
          </a:p>
          <a:p>
            <a:pPr indent="0" marL="0">
              <a:lnSpc>
                <a:spcPts val="1700"/>
              </a:lnSpc>
              <a:buNone/>
            </a:pPr>
            <a:r>
              <a:rPr lang="en-US" sz="1100" dirty="0">
                <a:solidFill>
                  <a:srgbClr val="93B3A1"/>
                </a:solidFill>
                <a:latin typeface="Calibri" pitchFamily="34" charset="0"/>
                <a:ea typeface="Calibri" pitchFamily="34" charset="-122"/>
                <a:cs typeface="Calibri" pitchFamily="34" charset="-120"/>
              </a:rPr>
              <a:t>Công ty TNHH Giải pháp Xã hội SS Corp Việt Nam  ·  taisandaugia.vn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219456"/>
          </a:xfrm>
          <a:prstGeom prst="rect">
            <a:avLst/>
          </a:prstGeom>
          <a:noFill/>
          <a:ln/>
        </p:spPr>
        <p:txBody>
          <a:bodyPr wrap="square" lIns="0" tIns="0" rIns="0" bIns="0" rtlCol="0" anchor="ctr"/>
          <a:lstStyle/>
          <a:p>
            <a:pPr indent="0" marL="0">
              <a:buNone/>
            </a:pPr>
            <a:r>
              <a:rPr lang="en-US" sz="1050" b="1" spc="160" kern="0" dirty="0">
                <a:solidFill>
                  <a:srgbClr val="2E8B5E"/>
                </a:solidFill>
                <a:latin typeface="Calibri" pitchFamily="34" charset="0"/>
                <a:ea typeface="Calibri" pitchFamily="34" charset="-122"/>
                <a:cs typeface="Calibri" pitchFamily="34" charset="-120"/>
              </a:rPr>
              <a:t>VẤN ĐỀ</a:t>
            </a:r>
            <a:endParaRPr lang="en-US" sz="1050" dirty="0"/>
          </a:p>
        </p:txBody>
      </p:sp>
      <p:sp>
        <p:nvSpPr>
          <p:cNvPr id="3" name="Text 1"/>
          <p:cNvSpPr txBox="1"/>
          <p:nvPr/>
        </p:nvSpPr>
        <p:spPr>
          <a:xfrm>
            <a:off x="502920" y="548640"/>
            <a:ext cx="8138160" cy="457200"/>
          </a:xfrm>
          <a:prstGeom prst="rect">
            <a:avLst/>
          </a:prstGeom>
          <a:noFill/>
          <a:ln/>
        </p:spPr>
        <p:txBody>
          <a:bodyPr wrap="square" lIns="0" tIns="0" rIns="0" bIns="0" rtlCol="0" anchor="ctr"/>
          <a:lstStyle/>
          <a:p>
            <a:pPr indent="0" marL="0">
              <a:lnSpc>
                <a:spcPts val="3000"/>
              </a:lnSpc>
              <a:buNone/>
            </a:pPr>
            <a:r>
              <a:rPr lang="en-US" sz="2400" b="1" dirty="0">
                <a:solidFill>
                  <a:srgbClr val="1A241F"/>
                </a:solidFill>
                <a:latin typeface="Cambria" pitchFamily="34" charset="0"/>
                <a:ea typeface="Cambria" pitchFamily="34" charset="-122"/>
                <a:cs typeface="Cambria" pitchFamily="34" charset="-120"/>
              </a:rPr>
              <a:t>Nghệ nhân giỏi vẫn còn, nghề thì đang mất</a:t>
            </a:r>
            <a:endParaRPr lang="en-US" sz="2400" dirty="0"/>
          </a:p>
        </p:txBody>
      </p:sp>
      <p:sp>
        <p:nvSpPr>
          <p:cNvPr id="4" name="Text 2"/>
          <p:cNvSpPr txBox="1"/>
          <p:nvPr/>
        </p:nvSpPr>
        <p:spPr>
          <a:xfrm>
            <a:off x="502920" y="4718304"/>
            <a:ext cx="4572000" cy="219456"/>
          </a:xfrm>
          <a:prstGeom prst="rect">
            <a:avLst/>
          </a:prstGeom>
          <a:noFill/>
          <a:ln/>
        </p:spPr>
        <p:txBody>
          <a:bodyPr wrap="square" lIns="0" tIns="0" rIns="0" bIns="0" rtlCol="0" anchor="ctr"/>
          <a:lstStyle/>
          <a:p>
            <a:pPr indent="0" marL="0">
              <a:buNone/>
            </a:pPr>
            <a:r>
              <a:rPr lang="en-US" sz="900" dirty="0">
                <a:solidFill>
                  <a:srgbClr val="5F7168"/>
                </a:solidFill>
                <a:latin typeface="Calibri" pitchFamily="34" charset="0"/>
                <a:ea typeface="Calibri" pitchFamily="34" charset="-122"/>
                <a:cs typeface="Calibri" pitchFamily="34" charset="-120"/>
              </a:rPr>
              <a:t>Tài Sản Đấu Giá · RE:ACT 2026</a:t>
            </a:r>
            <a:endParaRPr lang="en-US" sz="900" dirty="0"/>
          </a:p>
        </p:txBody>
      </p:sp>
      <p:sp>
        <p:nvSpPr>
          <p:cNvPr id="5" name="Text 3"/>
          <p:cNvSpPr txBox="1"/>
          <p:nvPr/>
        </p:nvSpPr>
        <p:spPr>
          <a:xfrm>
            <a:off x="8092440" y="4718304"/>
            <a:ext cx="548640" cy="219456"/>
          </a:xfrm>
          <a:prstGeom prst="rect">
            <a:avLst/>
          </a:prstGeom>
          <a:noFill/>
          <a:ln/>
        </p:spPr>
        <p:txBody>
          <a:bodyPr wrap="square" lIns="0" tIns="0" rIns="0" bIns="0" rtlCol="0" anchor="ctr"/>
          <a:lstStyle/>
          <a:p>
            <a:pPr algn="r" indent="0" marL="0">
              <a:buNone/>
            </a:pPr>
            <a:r>
              <a:rPr lang="en-US" sz="900" dirty="0">
                <a:solidFill>
                  <a:srgbClr val="5F7168"/>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02920" y="1243584"/>
            <a:ext cx="1869948" cy="1828800"/>
          </a:xfrm>
          <a:prstGeom prst="roundRect">
            <a:avLst>
              <a:gd name="adj" fmla="val 5000"/>
            </a:avLst>
          </a:prstGeom>
          <a:solidFill>
            <a:srgbClr val="EEF3F0"/>
          </a:solidFill>
          <a:ln w="9525">
            <a:solidFill>
              <a:srgbClr val="D8E4DC"/>
            </a:solidFill>
            <a:prstDash val="solid"/>
          </a:ln>
        </p:spPr>
      </p:sp>
      <p:sp>
        <p:nvSpPr>
          <p:cNvPr id="7" name="Shape 5"/>
          <p:cNvSpPr/>
          <p:nvPr/>
        </p:nvSpPr>
        <p:spPr>
          <a:xfrm>
            <a:off x="685800" y="1426464"/>
            <a:ext cx="310896" cy="310896"/>
          </a:xfrm>
          <a:prstGeom prst="ellipse">
            <a:avLst/>
          </a:prstGeom>
          <a:solidFill>
            <a:srgbClr val="1B6A45"/>
          </a:solidFill>
          <a:ln w="12700">
            <a:solidFill>
              <a:srgbClr val="1B6A45"/>
            </a:solidFill>
            <a:prstDash val="solid"/>
          </a:ln>
        </p:spPr>
      </p:sp>
      <p:sp>
        <p:nvSpPr>
          <p:cNvPr id="8" name="Text 6"/>
          <p:cNvSpPr txBox="1"/>
          <p:nvPr/>
        </p:nvSpPr>
        <p:spPr>
          <a:xfrm>
            <a:off x="685800" y="1437437"/>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685800" y="1828800"/>
            <a:ext cx="1504188" cy="512064"/>
          </a:xfrm>
          <a:prstGeom prst="rect">
            <a:avLst/>
          </a:prstGeom>
          <a:noFill/>
          <a:ln/>
        </p:spPr>
        <p:txBody>
          <a:bodyPr wrap="square" lIns="0" tIns="0" rIns="0" bIns="0" rtlCol="0" anchor="ctr"/>
          <a:lstStyle/>
          <a:p>
            <a:pPr indent="0" marL="0">
              <a:lnSpc>
                <a:spcPts val="1800"/>
              </a:lnSpc>
              <a:buNone/>
            </a:pPr>
            <a:r>
              <a:rPr lang="en-US" sz="1350" b="1" dirty="0">
                <a:solidFill>
                  <a:srgbClr val="1A241F"/>
                </a:solidFill>
                <a:latin typeface="Cambria" pitchFamily="34" charset="0"/>
                <a:ea typeface="Cambria" pitchFamily="34" charset="-122"/>
                <a:cs typeface="Cambria" pitchFamily="34" charset="-120"/>
              </a:rPr>
              <a:t>Nhiều nghệ nhân giỏi</a:t>
            </a:r>
            <a:endParaRPr lang="en-US" sz="1350" dirty="0"/>
          </a:p>
        </p:txBody>
      </p:sp>
      <p:sp>
        <p:nvSpPr>
          <p:cNvPr id="10" name="Text 8"/>
          <p:cNvSpPr txBox="1"/>
          <p:nvPr/>
        </p:nvSpPr>
        <p:spPr>
          <a:xfrm>
            <a:off x="685800" y="2359152"/>
            <a:ext cx="1504188" cy="603504"/>
          </a:xfrm>
          <a:prstGeom prst="rect">
            <a:avLst/>
          </a:prstGeom>
          <a:noFill/>
          <a:ln/>
        </p:spPr>
        <p:txBody>
          <a:bodyPr wrap="square" lIns="0" tIns="0" rIns="0" bIns="0" rtlCol="0" anchor="ctr"/>
          <a:lstStyle/>
          <a:p>
            <a:pPr indent="0" marL="0">
              <a:lnSpc>
                <a:spcPts val="1500"/>
              </a:lnSpc>
              <a:buNone/>
            </a:pPr>
            <a:r>
              <a:rPr lang="en-US" sz="1100" dirty="0">
                <a:solidFill>
                  <a:srgbClr val="5F7168"/>
                </a:solidFill>
                <a:latin typeface="Calibri" pitchFamily="34" charset="0"/>
                <a:ea typeface="Calibri" pitchFamily="34" charset="-122"/>
                <a:cs typeface="Calibri" pitchFamily="34" charset="-120"/>
              </a:rPr>
              <a:t>Bát Tràng, Vạn Phúc, Đại Bái, Đồng Kỵ, Đông Hồ…</a:t>
            </a:r>
            <a:endParaRPr lang="en-US" sz="1100" dirty="0"/>
          </a:p>
        </p:txBody>
      </p:sp>
      <p:sp>
        <p:nvSpPr>
          <p:cNvPr id="11" name="Text 9"/>
          <p:cNvSpPr txBox="1"/>
          <p:nvPr/>
        </p:nvSpPr>
        <p:spPr>
          <a:xfrm>
            <a:off x="2372868" y="2029968"/>
            <a:ext cx="219456" cy="274320"/>
          </a:xfrm>
          <a:prstGeom prst="rect">
            <a:avLst/>
          </a:prstGeom>
          <a:noFill/>
          <a:ln/>
        </p:spPr>
        <p:txBody>
          <a:bodyPr wrap="square" lIns="0" tIns="0" rIns="0" bIns="0" rtlCol="0" anchor="ctr"/>
          <a:lstStyle/>
          <a:p>
            <a:pPr algn="ctr" indent="0" marL="0">
              <a:buNone/>
            </a:pPr>
            <a:r>
              <a:rPr lang="en-US" sz="1400" b="1" dirty="0">
                <a:solidFill>
                  <a:srgbClr val="9BADA3"/>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592324" y="1243584"/>
            <a:ext cx="1869948" cy="1828800"/>
          </a:xfrm>
          <a:prstGeom prst="roundRect">
            <a:avLst>
              <a:gd name="adj" fmla="val 5000"/>
            </a:avLst>
          </a:prstGeom>
          <a:solidFill>
            <a:srgbClr val="EEF3F0"/>
          </a:solidFill>
          <a:ln w="9525">
            <a:solidFill>
              <a:srgbClr val="D8E4DC"/>
            </a:solidFill>
            <a:prstDash val="solid"/>
          </a:ln>
        </p:spPr>
      </p:sp>
      <p:sp>
        <p:nvSpPr>
          <p:cNvPr id="13" name="Shape 11"/>
          <p:cNvSpPr/>
          <p:nvPr/>
        </p:nvSpPr>
        <p:spPr>
          <a:xfrm>
            <a:off x="2775204" y="1426464"/>
            <a:ext cx="310896" cy="310896"/>
          </a:xfrm>
          <a:prstGeom prst="ellipse">
            <a:avLst/>
          </a:prstGeom>
          <a:solidFill>
            <a:srgbClr val="1B6A45"/>
          </a:solidFill>
          <a:ln w="12700">
            <a:solidFill>
              <a:srgbClr val="1B6A45"/>
            </a:solidFill>
            <a:prstDash val="solid"/>
          </a:ln>
        </p:spPr>
      </p:sp>
      <p:sp>
        <p:nvSpPr>
          <p:cNvPr id="14" name="Text 12"/>
          <p:cNvSpPr txBox="1"/>
          <p:nvPr/>
        </p:nvSpPr>
        <p:spPr>
          <a:xfrm>
            <a:off x="2775204" y="1437437"/>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txBox="1"/>
          <p:nvPr/>
        </p:nvSpPr>
        <p:spPr>
          <a:xfrm>
            <a:off x="2775204" y="1828800"/>
            <a:ext cx="1504188" cy="512064"/>
          </a:xfrm>
          <a:prstGeom prst="rect">
            <a:avLst/>
          </a:prstGeom>
          <a:noFill/>
          <a:ln/>
        </p:spPr>
        <p:txBody>
          <a:bodyPr wrap="square" lIns="0" tIns="0" rIns="0" bIns="0" rtlCol="0" anchor="ctr"/>
          <a:lstStyle/>
          <a:p>
            <a:pPr indent="0" marL="0">
              <a:lnSpc>
                <a:spcPts val="1800"/>
              </a:lnSpc>
              <a:buNone/>
            </a:pPr>
            <a:r>
              <a:rPr lang="en-US" sz="1350" b="1" dirty="0">
                <a:solidFill>
                  <a:srgbClr val="1A241F"/>
                </a:solidFill>
                <a:latin typeface="Cambria" pitchFamily="34" charset="0"/>
                <a:ea typeface="Cambria" pitchFamily="34" charset="-122"/>
                <a:cs typeface="Cambria" pitchFamily="34" charset="-120"/>
              </a:rPr>
              <a:t>Không được quảng bá</a:t>
            </a:r>
            <a:endParaRPr lang="en-US" sz="1350" dirty="0"/>
          </a:p>
        </p:txBody>
      </p:sp>
      <p:sp>
        <p:nvSpPr>
          <p:cNvPr id="16" name="Text 14"/>
          <p:cNvSpPr txBox="1"/>
          <p:nvPr/>
        </p:nvSpPr>
        <p:spPr>
          <a:xfrm>
            <a:off x="2775204" y="2359152"/>
            <a:ext cx="1504188" cy="603504"/>
          </a:xfrm>
          <a:prstGeom prst="rect">
            <a:avLst/>
          </a:prstGeom>
          <a:noFill/>
          <a:ln/>
        </p:spPr>
        <p:txBody>
          <a:bodyPr wrap="square" lIns="0" tIns="0" rIns="0" bIns="0" rtlCol="0" anchor="ctr"/>
          <a:lstStyle/>
          <a:p>
            <a:pPr indent="0" marL="0">
              <a:lnSpc>
                <a:spcPts val="1500"/>
              </a:lnSpc>
              <a:buNone/>
            </a:pPr>
            <a:r>
              <a:rPr lang="en-US" sz="1100" dirty="0">
                <a:solidFill>
                  <a:srgbClr val="5F7168"/>
                </a:solidFill>
                <a:latin typeface="Calibri" pitchFamily="34" charset="0"/>
                <a:ea typeface="Calibri" pitchFamily="34" charset="-122"/>
                <a:cs typeface="Calibri" pitchFamily="34" charset="-120"/>
              </a:rPr>
              <a:t>Sản phẩm không ra khỏi phạm vi địa phương.</a:t>
            </a:r>
            <a:endParaRPr lang="en-US" sz="1100" dirty="0"/>
          </a:p>
        </p:txBody>
      </p:sp>
      <p:sp>
        <p:nvSpPr>
          <p:cNvPr id="17" name="Text 15"/>
          <p:cNvSpPr txBox="1"/>
          <p:nvPr/>
        </p:nvSpPr>
        <p:spPr>
          <a:xfrm>
            <a:off x="4462272" y="2029968"/>
            <a:ext cx="219456" cy="274320"/>
          </a:xfrm>
          <a:prstGeom prst="rect">
            <a:avLst/>
          </a:prstGeom>
          <a:noFill/>
          <a:ln/>
        </p:spPr>
        <p:txBody>
          <a:bodyPr wrap="square" lIns="0" tIns="0" rIns="0" bIns="0" rtlCol="0" anchor="ctr"/>
          <a:lstStyle/>
          <a:p>
            <a:pPr algn="ctr" indent="0" marL="0">
              <a:buNone/>
            </a:pPr>
            <a:r>
              <a:rPr lang="en-US" sz="1400" b="1" dirty="0">
                <a:solidFill>
                  <a:srgbClr val="9BADA3"/>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4681728" y="1243584"/>
            <a:ext cx="1869948" cy="1828800"/>
          </a:xfrm>
          <a:prstGeom prst="roundRect">
            <a:avLst>
              <a:gd name="adj" fmla="val 5000"/>
            </a:avLst>
          </a:prstGeom>
          <a:solidFill>
            <a:srgbClr val="EEF3F0"/>
          </a:solidFill>
          <a:ln w="9525">
            <a:solidFill>
              <a:srgbClr val="D8E4DC"/>
            </a:solidFill>
            <a:prstDash val="solid"/>
          </a:ln>
        </p:spPr>
      </p:sp>
      <p:sp>
        <p:nvSpPr>
          <p:cNvPr id="19" name="Shape 17"/>
          <p:cNvSpPr/>
          <p:nvPr/>
        </p:nvSpPr>
        <p:spPr>
          <a:xfrm>
            <a:off x="4864608" y="1426464"/>
            <a:ext cx="310896" cy="310896"/>
          </a:xfrm>
          <a:prstGeom prst="ellipse">
            <a:avLst/>
          </a:prstGeom>
          <a:solidFill>
            <a:srgbClr val="1B6A45"/>
          </a:solidFill>
          <a:ln w="12700">
            <a:solidFill>
              <a:srgbClr val="1B6A45"/>
            </a:solidFill>
            <a:prstDash val="solid"/>
          </a:ln>
        </p:spPr>
      </p:sp>
      <p:sp>
        <p:nvSpPr>
          <p:cNvPr id="20" name="Text 18"/>
          <p:cNvSpPr txBox="1"/>
          <p:nvPr/>
        </p:nvSpPr>
        <p:spPr>
          <a:xfrm>
            <a:off x="4864608" y="1437437"/>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9"/>
          <p:cNvSpPr txBox="1"/>
          <p:nvPr/>
        </p:nvSpPr>
        <p:spPr>
          <a:xfrm>
            <a:off x="4864608" y="1828800"/>
            <a:ext cx="1504188" cy="512064"/>
          </a:xfrm>
          <a:prstGeom prst="rect">
            <a:avLst/>
          </a:prstGeom>
          <a:noFill/>
          <a:ln/>
        </p:spPr>
        <p:txBody>
          <a:bodyPr wrap="square" lIns="0" tIns="0" rIns="0" bIns="0" rtlCol="0" anchor="ctr"/>
          <a:lstStyle/>
          <a:p>
            <a:pPr indent="0" marL="0">
              <a:lnSpc>
                <a:spcPts val="1800"/>
              </a:lnSpc>
              <a:buNone/>
            </a:pPr>
            <a:r>
              <a:rPr lang="en-US" sz="1350" b="1" dirty="0">
                <a:solidFill>
                  <a:srgbClr val="1A241F"/>
                </a:solidFill>
                <a:latin typeface="Cambria" pitchFamily="34" charset="0"/>
                <a:ea typeface="Cambria" pitchFamily="34" charset="-122"/>
                <a:cs typeface="Cambria" pitchFamily="34" charset="-120"/>
              </a:rPr>
              <a:t>Giá trị bị đánh giá thấp</a:t>
            </a:r>
            <a:endParaRPr lang="en-US" sz="1350" dirty="0"/>
          </a:p>
        </p:txBody>
      </p:sp>
      <p:sp>
        <p:nvSpPr>
          <p:cNvPr id="22" name="Text 20"/>
          <p:cNvSpPr txBox="1"/>
          <p:nvPr/>
        </p:nvSpPr>
        <p:spPr>
          <a:xfrm>
            <a:off x="4864608" y="2359152"/>
            <a:ext cx="1504188" cy="603504"/>
          </a:xfrm>
          <a:prstGeom prst="rect">
            <a:avLst/>
          </a:prstGeom>
          <a:noFill/>
          <a:ln/>
        </p:spPr>
        <p:txBody>
          <a:bodyPr wrap="square" lIns="0" tIns="0" rIns="0" bIns="0" rtlCol="0" anchor="ctr"/>
          <a:lstStyle/>
          <a:p>
            <a:pPr indent="0" marL="0">
              <a:lnSpc>
                <a:spcPts val="1500"/>
              </a:lnSpc>
              <a:buNone/>
            </a:pPr>
            <a:r>
              <a:rPr lang="en-US" sz="1100" dirty="0">
                <a:solidFill>
                  <a:srgbClr val="5F7168"/>
                </a:solidFill>
                <a:latin typeface="Calibri" pitchFamily="34" charset="0"/>
                <a:ea typeface="Calibri" pitchFamily="34" charset="-122"/>
                <a:cs typeface="Calibri" pitchFamily="34" charset="-120"/>
              </a:rPr>
              <a:t>Không ai biết thì không ai trả giá đúng.</a:t>
            </a:r>
            <a:endParaRPr lang="en-US" sz="1100" dirty="0"/>
          </a:p>
        </p:txBody>
      </p:sp>
      <p:sp>
        <p:nvSpPr>
          <p:cNvPr id="23" name="Text 21"/>
          <p:cNvSpPr txBox="1"/>
          <p:nvPr/>
        </p:nvSpPr>
        <p:spPr>
          <a:xfrm>
            <a:off x="6551676" y="2029968"/>
            <a:ext cx="219456" cy="274320"/>
          </a:xfrm>
          <a:prstGeom prst="rect">
            <a:avLst/>
          </a:prstGeom>
          <a:noFill/>
          <a:ln/>
        </p:spPr>
        <p:txBody>
          <a:bodyPr wrap="square" lIns="0" tIns="0" rIns="0" bIns="0" rtlCol="0" anchor="ctr"/>
          <a:lstStyle/>
          <a:p>
            <a:pPr algn="ctr" indent="0" marL="0">
              <a:buNone/>
            </a:pPr>
            <a:r>
              <a:rPr lang="en-US" sz="1400" b="1" dirty="0">
                <a:solidFill>
                  <a:srgbClr val="9BADA3"/>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6771132" y="1243584"/>
            <a:ext cx="1869948" cy="1828800"/>
          </a:xfrm>
          <a:prstGeom prst="roundRect">
            <a:avLst>
              <a:gd name="adj" fmla="val 5000"/>
            </a:avLst>
          </a:prstGeom>
          <a:solidFill>
            <a:srgbClr val="0F3D2A"/>
          </a:solidFill>
          <a:ln w="9525">
            <a:solidFill>
              <a:srgbClr val="0F3D2A"/>
            </a:solidFill>
            <a:prstDash val="solid"/>
          </a:ln>
        </p:spPr>
      </p:sp>
      <p:sp>
        <p:nvSpPr>
          <p:cNvPr id="25" name="Shape 23"/>
          <p:cNvSpPr/>
          <p:nvPr/>
        </p:nvSpPr>
        <p:spPr>
          <a:xfrm>
            <a:off x="6954012" y="1426464"/>
            <a:ext cx="310896" cy="310896"/>
          </a:xfrm>
          <a:prstGeom prst="ellipse">
            <a:avLst/>
          </a:prstGeom>
          <a:solidFill>
            <a:srgbClr val="FF7A66"/>
          </a:solidFill>
          <a:ln w="12700">
            <a:solidFill>
              <a:srgbClr val="FF7A66"/>
            </a:solidFill>
            <a:prstDash val="solid"/>
          </a:ln>
        </p:spPr>
      </p:sp>
      <p:sp>
        <p:nvSpPr>
          <p:cNvPr id="26" name="Text 24"/>
          <p:cNvSpPr txBox="1"/>
          <p:nvPr/>
        </p:nvSpPr>
        <p:spPr>
          <a:xfrm>
            <a:off x="6954012" y="1437437"/>
            <a:ext cx="310896" cy="283464"/>
          </a:xfrm>
          <a:prstGeom prst="rect">
            <a:avLst/>
          </a:prstGeom>
          <a:noFill/>
          <a:ln/>
        </p:spPr>
        <p:txBody>
          <a:bodyPr wrap="square" lIns="0" tIns="0" rIns="0" bIns="0" rtlCol="0" anchor="ctr"/>
          <a:lstStyle/>
          <a:p>
            <a:pPr algn="ctr" indent="0" marL="0">
              <a:buNone/>
            </a:pPr>
            <a:r>
              <a:rPr lang="en-US" sz="1250" b="1" dirty="0">
                <a:solidFill>
                  <a:srgbClr val="0F3D2A"/>
                </a:solidFill>
                <a:latin typeface="Calibri" pitchFamily="34" charset="0"/>
                <a:ea typeface="Calibri" pitchFamily="34" charset="-122"/>
                <a:cs typeface="Calibri" pitchFamily="34" charset="-120"/>
              </a:rPr>
              <a:t>4</a:t>
            </a:r>
            <a:endParaRPr lang="en-US" sz="1250" dirty="0"/>
          </a:p>
        </p:txBody>
      </p:sp>
      <p:sp>
        <p:nvSpPr>
          <p:cNvPr id="27" name="Text 25"/>
          <p:cNvSpPr txBox="1"/>
          <p:nvPr/>
        </p:nvSpPr>
        <p:spPr>
          <a:xfrm>
            <a:off x="6954012" y="1828800"/>
            <a:ext cx="1504188" cy="512064"/>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Cambria" pitchFamily="34" charset="0"/>
                <a:ea typeface="Cambria" pitchFamily="34" charset="-122"/>
                <a:cs typeface="Cambria" pitchFamily="34" charset="-120"/>
              </a:rPr>
              <a:t>Con cháu không theo nghề</a:t>
            </a:r>
            <a:endParaRPr lang="en-US" sz="1350" dirty="0"/>
          </a:p>
        </p:txBody>
      </p:sp>
      <p:sp>
        <p:nvSpPr>
          <p:cNvPr id="28" name="Text 26"/>
          <p:cNvSpPr txBox="1"/>
          <p:nvPr/>
        </p:nvSpPr>
        <p:spPr>
          <a:xfrm>
            <a:off x="6954012" y="2359152"/>
            <a:ext cx="1504188" cy="603504"/>
          </a:xfrm>
          <a:prstGeom prst="rect">
            <a:avLst/>
          </a:prstGeom>
          <a:noFill/>
          <a:ln/>
        </p:spPr>
        <p:txBody>
          <a:bodyPr wrap="square" lIns="0" tIns="0" rIns="0" bIns="0" rtlCol="0" anchor="ctr"/>
          <a:lstStyle/>
          <a:p>
            <a:pPr indent="0" marL="0">
              <a:lnSpc>
                <a:spcPts val="1500"/>
              </a:lnSpc>
              <a:buNone/>
            </a:pPr>
            <a:r>
              <a:rPr lang="en-US" sz="1100" dirty="0">
                <a:solidFill>
                  <a:srgbClr val="C7DCCF"/>
                </a:solidFill>
                <a:latin typeface="Calibri" pitchFamily="34" charset="0"/>
                <a:ea typeface="Calibri" pitchFamily="34" charset="-122"/>
                <a:cs typeface="Calibri" pitchFamily="34" charset="-120"/>
              </a:rPr>
              <a:t>Không có kinh tế thì không có động lực tiếp nhận.</a:t>
            </a:r>
            <a:endParaRPr lang="en-US" sz="1100" dirty="0"/>
          </a:p>
        </p:txBody>
      </p:sp>
      <p:sp>
        <p:nvSpPr>
          <p:cNvPr id="29" name="Text 27"/>
          <p:cNvSpPr txBox="1"/>
          <p:nvPr/>
        </p:nvSpPr>
        <p:spPr>
          <a:xfrm>
            <a:off x="502920" y="3218688"/>
            <a:ext cx="8138160" cy="365760"/>
          </a:xfrm>
          <a:prstGeom prst="rect">
            <a:avLst/>
          </a:prstGeom>
          <a:noFill/>
          <a:ln/>
        </p:spPr>
        <p:txBody>
          <a:bodyPr wrap="square" lIns="0" tIns="0" rIns="0" bIns="0" rtlCol="0" anchor="ctr"/>
          <a:lstStyle/>
          <a:p>
            <a:pPr indent="0" marL="0">
              <a:lnSpc>
                <a:spcPts val="1700"/>
              </a:lnSpc>
              <a:buNone/>
            </a:pPr>
            <a:r>
              <a:rPr lang="en-US" sz="1200" dirty="0">
                <a:solidFill>
                  <a:srgbClr val="5F7168"/>
                </a:solidFill>
                <a:latin typeface="Calibri" pitchFamily="34" charset="0"/>
                <a:ea typeface="Calibri" pitchFamily="34" charset="-122"/>
                <a:cs typeface="Calibri" pitchFamily="34" charset="-120"/>
              </a:rPr>
              <a:t>Gốm, lụa, đúc đồng, mây tre đan, chạm khắc gỗ, tranh dân gian — nhiều làng vẫn có nghệ nhân được phong tặng danh hiệu, nhưng danh hiệu không đổi thành thu nhập đủ sống.</a:t>
            </a:r>
            <a:endParaRPr lang="en-US" sz="1200" dirty="0"/>
          </a:p>
        </p:txBody>
      </p:sp>
      <p:sp>
        <p:nvSpPr>
          <p:cNvPr id="30" name="Shape 28"/>
          <p:cNvSpPr/>
          <p:nvPr/>
        </p:nvSpPr>
        <p:spPr>
          <a:xfrm>
            <a:off x="502920" y="3749040"/>
            <a:ext cx="8138160" cy="658368"/>
          </a:xfrm>
          <a:prstGeom prst="roundRect">
            <a:avLst>
              <a:gd name="adj" fmla="val 15278"/>
            </a:avLst>
          </a:prstGeom>
          <a:solidFill>
            <a:srgbClr val="0F3D2A"/>
          </a:solidFill>
          <a:ln w="12700">
            <a:solidFill>
              <a:srgbClr val="0F3D2A"/>
            </a:solidFill>
            <a:prstDash val="solid"/>
          </a:ln>
        </p:spPr>
      </p:sp>
      <p:sp>
        <p:nvSpPr>
          <p:cNvPr id="31" name="Text 29"/>
          <p:cNvSpPr txBox="1"/>
          <p:nvPr/>
        </p:nvSpPr>
        <p:spPr>
          <a:xfrm>
            <a:off x="777240" y="3749040"/>
            <a:ext cx="7589520" cy="658368"/>
          </a:xfrm>
          <a:prstGeom prst="rect">
            <a:avLst/>
          </a:prstGeom>
          <a:noFill/>
          <a:ln/>
        </p:spPr>
        <p:txBody>
          <a:bodyPr wrap="square" lIns="0" tIns="0" rIns="0" bIns="0" rtlCol="0" anchor="ctr"/>
          <a:lstStyle/>
          <a:p>
            <a:pPr indent="0" marL="0">
              <a:lnSpc>
                <a:spcPts val="1800"/>
              </a:lnSpc>
              <a:buNone/>
            </a:pPr>
            <a:r>
              <a:rPr lang="en-US" sz="1200" dirty="0">
                <a:solidFill>
                  <a:srgbClr val="C7DCCF"/>
                </a:solidFill>
                <a:latin typeface="Calibri" pitchFamily="34" charset="0"/>
                <a:ea typeface="Calibri" pitchFamily="34" charset="-122"/>
                <a:cs typeface="Calibri" pitchFamily="34" charset="-120"/>
              </a:rPr>
              <a:t>Nghề không mất vì hết người biết làm. </a:t>
            </a:r>
            <a:pPr indent="0" marL="0">
              <a:lnSpc>
                <a:spcPts val="1800"/>
              </a:lnSpc>
              <a:buNone/>
            </a:pPr>
            <a:r>
              <a:rPr lang="en-US" sz="1200" b="1" dirty="0">
                <a:solidFill>
                  <a:srgbClr val="FF7A66"/>
                </a:solidFill>
                <a:latin typeface="Calibri" pitchFamily="34" charset="0"/>
                <a:ea typeface="Calibri" pitchFamily="34" charset="-122"/>
                <a:cs typeface="Calibri" pitchFamily="34" charset="-120"/>
              </a:rPr>
              <a:t>Nghề mất vì người biết làm không nuôi được gia đình bằng nó.</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219456"/>
          </a:xfrm>
          <a:prstGeom prst="rect">
            <a:avLst/>
          </a:prstGeom>
          <a:noFill/>
          <a:ln/>
        </p:spPr>
        <p:txBody>
          <a:bodyPr wrap="square" lIns="0" tIns="0" rIns="0" bIns="0" rtlCol="0" anchor="ctr"/>
          <a:lstStyle/>
          <a:p>
            <a:pPr indent="0" marL="0">
              <a:buNone/>
            </a:pPr>
            <a:r>
              <a:rPr lang="en-US" sz="1050" b="1" spc="160" kern="0" dirty="0">
                <a:solidFill>
                  <a:srgbClr val="2E8B5E"/>
                </a:solidFill>
                <a:latin typeface="Calibri" pitchFamily="34" charset="0"/>
                <a:ea typeface="Calibri" pitchFamily="34" charset="-122"/>
                <a:cs typeface="Calibri" pitchFamily="34" charset="-120"/>
              </a:rPr>
              <a:t>GIẢI PHÁP</a:t>
            </a:r>
            <a:endParaRPr lang="en-US" sz="1050" dirty="0"/>
          </a:p>
        </p:txBody>
      </p:sp>
      <p:sp>
        <p:nvSpPr>
          <p:cNvPr id="3" name="Text 1"/>
          <p:cNvSpPr txBox="1"/>
          <p:nvPr/>
        </p:nvSpPr>
        <p:spPr>
          <a:xfrm>
            <a:off x="502920" y="548640"/>
            <a:ext cx="8138160" cy="457200"/>
          </a:xfrm>
          <a:prstGeom prst="rect">
            <a:avLst/>
          </a:prstGeom>
          <a:noFill/>
          <a:ln/>
        </p:spPr>
        <p:txBody>
          <a:bodyPr wrap="square" lIns="0" tIns="0" rIns="0" bIns="0" rtlCol="0" anchor="ctr"/>
          <a:lstStyle/>
          <a:p>
            <a:pPr indent="0" marL="0">
              <a:lnSpc>
                <a:spcPts val="3000"/>
              </a:lnSpc>
              <a:buNone/>
            </a:pPr>
            <a:r>
              <a:rPr lang="en-US" sz="2400" b="1" dirty="0">
                <a:solidFill>
                  <a:srgbClr val="1A241F"/>
                </a:solidFill>
                <a:latin typeface="Cambria" pitchFamily="34" charset="0"/>
                <a:ea typeface="Cambria" pitchFamily="34" charset="-122"/>
                <a:cs typeface="Cambria" pitchFamily="34" charset="-120"/>
              </a:rPr>
              <a:t>Số hóa để được nhìn thấy, đấu giá để được trả đúng giá</a:t>
            </a:r>
            <a:endParaRPr lang="en-US" sz="2400" dirty="0"/>
          </a:p>
        </p:txBody>
      </p:sp>
      <p:sp>
        <p:nvSpPr>
          <p:cNvPr id="4" name="Text 2"/>
          <p:cNvSpPr txBox="1"/>
          <p:nvPr/>
        </p:nvSpPr>
        <p:spPr>
          <a:xfrm>
            <a:off x="502920" y="4718304"/>
            <a:ext cx="4572000" cy="219456"/>
          </a:xfrm>
          <a:prstGeom prst="rect">
            <a:avLst/>
          </a:prstGeom>
          <a:noFill/>
          <a:ln/>
        </p:spPr>
        <p:txBody>
          <a:bodyPr wrap="square" lIns="0" tIns="0" rIns="0" bIns="0" rtlCol="0" anchor="ctr"/>
          <a:lstStyle/>
          <a:p>
            <a:pPr indent="0" marL="0">
              <a:buNone/>
            </a:pPr>
            <a:r>
              <a:rPr lang="en-US" sz="900" dirty="0">
                <a:solidFill>
                  <a:srgbClr val="5F7168"/>
                </a:solidFill>
                <a:latin typeface="Calibri" pitchFamily="34" charset="0"/>
                <a:ea typeface="Calibri" pitchFamily="34" charset="-122"/>
                <a:cs typeface="Calibri" pitchFamily="34" charset="-120"/>
              </a:rPr>
              <a:t>Tài Sản Đấu Giá · RE:ACT 2026</a:t>
            </a:r>
            <a:endParaRPr lang="en-US" sz="900" dirty="0"/>
          </a:p>
        </p:txBody>
      </p:sp>
      <p:sp>
        <p:nvSpPr>
          <p:cNvPr id="5" name="Text 3"/>
          <p:cNvSpPr txBox="1"/>
          <p:nvPr/>
        </p:nvSpPr>
        <p:spPr>
          <a:xfrm>
            <a:off x="8092440" y="4718304"/>
            <a:ext cx="548640" cy="219456"/>
          </a:xfrm>
          <a:prstGeom prst="rect">
            <a:avLst/>
          </a:prstGeom>
          <a:noFill/>
          <a:ln/>
        </p:spPr>
        <p:txBody>
          <a:bodyPr wrap="square" lIns="0" tIns="0" rIns="0" bIns="0" rtlCol="0" anchor="ctr"/>
          <a:lstStyle/>
          <a:p>
            <a:pPr algn="r" indent="0" marL="0">
              <a:buNone/>
            </a:pPr>
            <a:r>
              <a:rPr lang="en-US" sz="900" dirty="0">
                <a:solidFill>
                  <a:srgbClr val="5F7168"/>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02920" y="1243584"/>
            <a:ext cx="2554224" cy="2377440"/>
          </a:xfrm>
          <a:prstGeom prst="roundRect">
            <a:avLst>
              <a:gd name="adj" fmla="val 4231"/>
            </a:avLst>
          </a:prstGeom>
          <a:solidFill>
            <a:srgbClr val="FFFFFF"/>
          </a:solidFill>
          <a:ln w="12700">
            <a:solidFill>
              <a:srgbClr val="DCE5E0"/>
            </a:solidFill>
            <a:prstDash val="solid"/>
          </a:ln>
        </p:spPr>
      </p:sp>
      <p:sp>
        <p:nvSpPr>
          <p:cNvPr id="7" name="Text 5"/>
          <p:cNvSpPr txBox="1"/>
          <p:nvPr/>
        </p:nvSpPr>
        <p:spPr>
          <a:xfrm>
            <a:off x="722376" y="1444752"/>
            <a:ext cx="2115312" cy="237744"/>
          </a:xfrm>
          <a:prstGeom prst="rect">
            <a:avLst/>
          </a:prstGeom>
          <a:noFill/>
          <a:ln/>
        </p:spPr>
        <p:txBody>
          <a:bodyPr wrap="square" lIns="0" tIns="0" rIns="0" bIns="0" rtlCol="0" anchor="ctr"/>
          <a:lstStyle/>
          <a:p>
            <a:pPr indent="0" marL="0">
              <a:buNone/>
            </a:pPr>
            <a:r>
              <a:rPr lang="en-US" sz="950" b="1" spc="110" kern="0" dirty="0">
                <a:solidFill>
                  <a:srgbClr val="2E8B5E"/>
                </a:solidFill>
                <a:latin typeface="Calibri" pitchFamily="34" charset="0"/>
                <a:ea typeface="Calibri" pitchFamily="34" charset="-122"/>
                <a:cs typeface="Calibri" pitchFamily="34" charset="-120"/>
              </a:rPr>
              <a:t>SỐ HÓA 3D &amp; VR</a:t>
            </a:r>
            <a:endParaRPr lang="en-US" sz="950" dirty="0"/>
          </a:p>
        </p:txBody>
      </p:sp>
      <p:sp>
        <p:nvSpPr>
          <p:cNvPr id="8" name="Text 6"/>
          <p:cNvSpPr txBox="1"/>
          <p:nvPr/>
        </p:nvSpPr>
        <p:spPr>
          <a:xfrm>
            <a:off x="722376" y="1737360"/>
            <a:ext cx="2115312" cy="548640"/>
          </a:xfrm>
          <a:prstGeom prst="rect">
            <a:avLst/>
          </a:prstGeom>
          <a:noFill/>
          <a:ln/>
        </p:spPr>
        <p:txBody>
          <a:bodyPr wrap="square" lIns="0" tIns="0" rIns="0" bIns="0" rtlCol="0" anchor="ctr"/>
          <a:lstStyle/>
          <a:p>
            <a:pPr indent="0" marL="0">
              <a:lnSpc>
                <a:spcPts val="2000"/>
              </a:lnSpc>
              <a:buNone/>
            </a:pPr>
            <a:r>
              <a:rPr lang="en-US" sz="1500" b="1" dirty="0">
                <a:solidFill>
                  <a:srgbClr val="1A241F"/>
                </a:solidFill>
                <a:latin typeface="Cambria" pitchFamily="34" charset="0"/>
                <a:ea typeface="Cambria" pitchFamily="34" charset="-122"/>
                <a:cs typeface="Cambria" pitchFamily="34" charset="-120"/>
              </a:rPr>
              <a:t>Để được nhìn thấy</a:t>
            </a:r>
            <a:endParaRPr lang="en-US" sz="1500" dirty="0"/>
          </a:p>
        </p:txBody>
      </p:sp>
      <p:sp>
        <p:nvSpPr>
          <p:cNvPr id="9" name="Text 7"/>
          <p:cNvSpPr txBox="1"/>
          <p:nvPr/>
        </p:nvSpPr>
        <p:spPr>
          <a:xfrm>
            <a:off x="722376" y="2322576"/>
            <a:ext cx="2115312" cy="1188720"/>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Quét 3D từng sản phẩm, dựng hồ sơ nghệ nhân và VR tour xưởng nghề — người ở xa thấy được sản phẩm và cả cách nó được làm ra.</a:t>
            </a:r>
            <a:endParaRPr lang="en-US" sz="1150" dirty="0"/>
          </a:p>
        </p:txBody>
      </p:sp>
      <p:sp>
        <p:nvSpPr>
          <p:cNvPr id="10" name="Shape 8"/>
          <p:cNvSpPr/>
          <p:nvPr/>
        </p:nvSpPr>
        <p:spPr>
          <a:xfrm>
            <a:off x="3294888" y="1243584"/>
            <a:ext cx="2554224" cy="2377440"/>
          </a:xfrm>
          <a:prstGeom prst="roundRect">
            <a:avLst>
              <a:gd name="adj" fmla="val 4231"/>
            </a:avLst>
          </a:prstGeom>
          <a:solidFill>
            <a:srgbClr val="FFFFFF"/>
          </a:solidFill>
          <a:ln w="12700">
            <a:solidFill>
              <a:srgbClr val="DCE5E0"/>
            </a:solidFill>
            <a:prstDash val="solid"/>
          </a:ln>
        </p:spPr>
      </p:sp>
      <p:sp>
        <p:nvSpPr>
          <p:cNvPr id="11" name="Text 9"/>
          <p:cNvSpPr txBox="1"/>
          <p:nvPr/>
        </p:nvSpPr>
        <p:spPr>
          <a:xfrm>
            <a:off x="3514344" y="1444752"/>
            <a:ext cx="2115312" cy="237744"/>
          </a:xfrm>
          <a:prstGeom prst="rect">
            <a:avLst/>
          </a:prstGeom>
          <a:noFill/>
          <a:ln/>
        </p:spPr>
        <p:txBody>
          <a:bodyPr wrap="square" lIns="0" tIns="0" rIns="0" bIns="0" rtlCol="0" anchor="ctr"/>
          <a:lstStyle/>
          <a:p>
            <a:pPr indent="0" marL="0">
              <a:buNone/>
            </a:pPr>
            <a:r>
              <a:rPr lang="en-US" sz="950" b="1" spc="110" kern="0" dirty="0">
                <a:solidFill>
                  <a:srgbClr val="2E8B5E"/>
                </a:solidFill>
                <a:latin typeface="Calibri" pitchFamily="34" charset="0"/>
                <a:ea typeface="Calibri" pitchFamily="34" charset="-122"/>
                <a:cs typeface="Calibri" pitchFamily="34" charset="-120"/>
              </a:rPr>
              <a:t>ĐẤU GIÁ TRỰC TUYẾN</a:t>
            </a:r>
            <a:endParaRPr lang="en-US" sz="950" dirty="0"/>
          </a:p>
        </p:txBody>
      </p:sp>
      <p:sp>
        <p:nvSpPr>
          <p:cNvPr id="12" name="Text 10"/>
          <p:cNvSpPr txBox="1"/>
          <p:nvPr/>
        </p:nvSpPr>
        <p:spPr>
          <a:xfrm>
            <a:off x="3514344" y="1737360"/>
            <a:ext cx="2115312" cy="548640"/>
          </a:xfrm>
          <a:prstGeom prst="rect">
            <a:avLst/>
          </a:prstGeom>
          <a:noFill/>
          <a:ln/>
        </p:spPr>
        <p:txBody>
          <a:bodyPr wrap="square" lIns="0" tIns="0" rIns="0" bIns="0" rtlCol="0" anchor="ctr"/>
          <a:lstStyle/>
          <a:p>
            <a:pPr indent="0" marL="0">
              <a:lnSpc>
                <a:spcPts val="2000"/>
              </a:lnSpc>
              <a:buNone/>
            </a:pPr>
            <a:r>
              <a:rPr lang="en-US" sz="1500" b="1" dirty="0">
                <a:solidFill>
                  <a:srgbClr val="1A241F"/>
                </a:solidFill>
                <a:latin typeface="Cambria" pitchFamily="34" charset="0"/>
                <a:ea typeface="Cambria" pitchFamily="34" charset="-122"/>
                <a:cs typeface="Cambria" pitchFamily="34" charset="-120"/>
              </a:rPr>
              <a:t>Để được trả đúng giá</a:t>
            </a:r>
            <a:endParaRPr lang="en-US" sz="1500" dirty="0"/>
          </a:p>
        </p:txBody>
      </p:sp>
      <p:sp>
        <p:nvSpPr>
          <p:cNvPr id="13" name="Text 11"/>
          <p:cNvSpPr txBox="1"/>
          <p:nvPr/>
        </p:nvSpPr>
        <p:spPr>
          <a:xfrm>
            <a:off x="3514344" y="2322576"/>
            <a:ext cx="2115312" cy="1188720"/>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Hộ đưa sản phẩm lên phiên cùng tổ chức đấu giá có giấy phép. Định danh eKYC, trả giá thời gian thực, kết quả ký số và lưu vết.</a:t>
            </a:r>
            <a:endParaRPr lang="en-US" sz="1150" dirty="0"/>
          </a:p>
        </p:txBody>
      </p:sp>
      <p:sp>
        <p:nvSpPr>
          <p:cNvPr id="14" name="Shape 12"/>
          <p:cNvSpPr/>
          <p:nvPr/>
        </p:nvSpPr>
        <p:spPr>
          <a:xfrm>
            <a:off x="6086856" y="1243584"/>
            <a:ext cx="2554224" cy="2377440"/>
          </a:xfrm>
          <a:prstGeom prst="roundRect">
            <a:avLst>
              <a:gd name="adj" fmla="val 4231"/>
            </a:avLst>
          </a:prstGeom>
          <a:solidFill>
            <a:srgbClr val="EEF3F0"/>
          </a:solidFill>
          <a:ln w="12700">
            <a:solidFill>
              <a:srgbClr val="9EC3AC"/>
            </a:solidFill>
            <a:prstDash val="solid"/>
          </a:ln>
        </p:spPr>
      </p:sp>
      <p:sp>
        <p:nvSpPr>
          <p:cNvPr id="15" name="Text 13"/>
          <p:cNvSpPr txBox="1"/>
          <p:nvPr/>
        </p:nvSpPr>
        <p:spPr>
          <a:xfrm>
            <a:off x="6306312" y="1444752"/>
            <a:ext cx="2115312" cy="237744"/>
          </a:xfrm>
          <a:prstGeom prst="rect">
            <a:avLst/>
          </a:prstGeom>
          <a:noFill/>
          <a:ln/>
        </p:spPr>
        <p:txBody>
          <a:bodyPr wrap="square" lIns="0" tIns="0" rIns="0" bIns="0" rtlCol="0" anchor="ctr"/>
          <a:lstStyle/>
          <a:p>
            <a:pPr indent="0" marL="0">
              <a:buNone/>
            </a:pPr>
            <a:r>
              <a:rPr lang="en-US" sz="950" b="1" spc="110" kern="0" dirty="0">
                <a:solidFill>
                  <a:srgbClr val="2E8B5E"/>
                </a:solidFill>
                <a:latin typeface="Calibri" pitchFamily="34" charset="0"/>
                <a:ea typeface="Calibri" pitchFamily="34" charset="-122"/>
                <a:cs typeface="Calibri" pitchFamily="34" charset="-120"/>
              </a:rPr>
              <a:t>NGƯỜI MUA TOÀN CẦU</a:t>
            </a:r>
            <a:endParaRPr lang="en-US" sz="950" dirty="0"/>
          </a:p>
        </p:txBody>
      </p:sp>
      <p:sp>
        <p:nvSpPr>
          <p:cNvPr id="16" name="Text 14"/>
          <p:cNvSpPr txBox="1"/>
          <p:nvPr/>
        </p:nvSpPr>
        <p:spPr>
          <a:xfrm>
            <a:off x="6306312" y="1737360"/>
            <a:ext cx="2115312" cy="548640"/>
          </a:xfrm>
          <a:prstGeom prst="rect">
            <a:avLst/>
          </a:prstGeom>
          <a:noFill/>
          <a:ln/>
        </p:spPr>
        <p:txBody>
          <a:bodyPr wrap="square" lIns="0" tIns="0" rIns="0" bIns="0" rtlCol="0" anchor="ctr"/>
          <a:lstStyle/>
          <a:p>
            <a:pPr indent="0" marL="0">
              <a:lnSpc>
                <a:spcPts val="2000"/>
              </a:lnSpc>
              <a:buNone/>
            </a:pPr>
            <a:r>
              <a:rPr lang="en-US" sz="1500" b="1" dirty="0">
                <a:solidFill>
                  <a:srgbClr val="1A241F"/>
                </a:solidFill>
                <a:latin typeface="Cambria" pitchFamily="34" charset="0"/>
                <a:ea typeface="Cambria" pitchFamily="34" charset="-122"/>
                <a:cs typeface="Cambria" pitchFamily="34" charset="-120"/>
              </a:rPr>
              <a:t>Để vượt mức giá thương lái</a:t>
            </a:r>
            <a:endParaRPr lang="en-US" sz="1500" dirty="0"/>
          </a:p>
        </p:txBody>
      </p:sp>
      <p:sp>
        <p:nvSpPr>
          <p:cNvPr id="17" name="Text 15"/>
          <p:cNvSpPr txBox="1"/>
          <p:nvPr/>
        </p:nvSpPr>
        <p:spPr>
          <a:xfrm>
            <a:off x="6306312" y="2322576"/>
            <a:ext cx="2115312" cy="1188720"/>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Nhà sưu tầm nước ngoài tham gia phiên mà không cần có mặt — 3D và VR tour thay cho việc xem tận tay.</a:t>
            </a:r>
            <a:endParaRPr lang="en-US" sz="1150" dirty="0"/>
          </a:p>
        </p:txBody>
      </p:sp>
      <p:sp>
        <p:nvSpPr>
          <p:cNvPr id="18" name="Shape 16"/>
          <p:cNvSpPr/>
          <p:nvPr/>
        </p:nvSpPr>
        <p:spPr>
          <a:xfrm>
            <a:off x="502920" y="3803904"/>
            <a:ext cx="8138160" cy="658368"/>
          </a:xfrm>
          <a:prstGeom prst="roundRect">
            <a:avLst>
              <a:gd name="adj" fmla="val 15278"/>
            </a:avLst>
          </a:prstGeom>
          <a:solidFill>
            <a:srgbClr val="0F3D2A"/>
          </a:solidFill>
          <a:ln w="12700">
            <a:solidFill>
              <a:srgbClr val="0F3D2A"/>
            </a:solidFill>
            <a:prstDash val="solid"/>
          </a:ln>
        </p:spPr>
      </p:sp>
      <p:sp>
        <p:nvSpPr>
          <p:cNvPr id="19" name="Text 17"/>
          <p:cNvSpPr txBox="1"/>
          <p:nvPr/>
        </p:nvSpPr>
        <p:spPr>
          <a:xfrm>
            <a:off x="777240" y="3803904"/>
            <a:ext cx="7589520" cy="658368"/>
          </a:xfrm>
          <a:prstGeom prst="rect">
            <a:avLst/>
          </a:prstGeom>
          <a:noFill/>
          <a:ln/>
        </p:spPr>
        <p:txBody>
          <a:bodyPr wrap="square" lIns="0" tIns="0" rIns="0" bIns="0" rtlCol="0" anchor="ctr"/>
          <a:lstStyle/>
          <a:p>
            <a:pPr indent="0" marL="0">
              <a:lnSpc>
                <a:spcPts val="1800"/>
              </a:lnSpc>
              <a:buNone/>
            </a:pPr>
            <a:r>
              <a:rPr lang="en-US" sz="1200" dirty="0">
                <a:solidFill>
                  <a:srgbClr val="C7DCCF"/>
                </a:solidFill>
                <a:latin typeface="Calibri" pitchFamily="34" charset="0"/>
                <a:ea typeface="Calibri" pitchFamily="34" charset="-122"/>
                <a:cs typeface="Calibri" pitchFamily="34" charset="-120"/>
              </a:rPr>
              <a:t>Được nhìn thấy  →  được trả đúng giá  →  có kinh tế  →  </a:t>
            </a:r>
            <a:pPr indent="0" marL="0">
              <a:lnSpc>
                <a:spcPts val="1800"/>
              </a:lnSpc>
              <a:buNone/>
            </a:pPr>
            <a:r>
              <a:rPr lang="en-US" sz="1200" b="1" dirty="0">
                <a:solidFill>
                  <a:srgbClr val="FF7A66"/>
                </a:solidFill>
                <a:latin typeface="Calibri" pitchFamily="34" charset="0"/>
                <a:ea typeface="Calibri" pitchFamily="34" charset="-122"/>
                <a:cs typeface="Calibri" pitchFamily="34" charset="-120"/>
              </a:rPr>
              <a:t>con cháu có động lực tiếp nhận nghề.</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219456"/>
          </a:xfrm>
          <a:prstGeom prst="rect">
            <a:avLst/>
          </a:prstGeom>
          <a:noFill/>
          <a:ln/>
        </p:spPr>
        <p:txBody>
          <a:bodyPr wrap="square" lIns="0" tIns="0" rIns="0" bIns="0" rtlCol="0" anchor="ctr"/>
          <a:lstStyle/>
          <a:p>
            <a:pPr indent="0" marL="0">
              <a:buNone/>
            </a:pPr>
            <a:r>
              <a:rPr lang="en-US" sz="1050" b="1" spc="160" kern="0" dirty="0">
                <a:solidFill>
                  <a:srgbClr val="2E8B5E"/>
                </a:solidFill>
                <a:latin typeface="Calibri" pitchFamily="34" charset="0"/>
                <a:ea typeface="Calibri" pitchFamily="34" charset="-122"/>
                <a:cs typeface="Calibri" pitchFamily="34" charset="-120"/>
              </a:rPr>
              <a:t>ĐIỂM MẤU CHỐT</a:t>
            </a:r>
            <a:endParaRPr lang="en-US" sz="1050" dirty="0"/>
          </a:p>
        </p:txBody>
      </p:sp>
      <p:sp>
        <p:nvSpPr>
          <p:cNvPr id="3" name="Text 1"/>
          <p:cNvSpPr txBox="1"/>
          <p:nvPr/>
        </p:nvSpPr>
        <p:spPr>
          <a:xfrm>
            <a:off x="502920" y="548640"/>
            <a:ext cx="8138160" cy="457200"/>
          </a:xfrm>
          <a:prstGeom prst="rect">
            <a:avLst/>
          </a:prstGeom>
          <a:noFill/>
          <a:ln/>
        </p:spPr>
        <p:txBody>
          <a:bodyPr wrap="square" lIns="0" tIns="0" rIns="0" bIns="0" rtlCol="0" anchor="ctr"/>
          <a:lstStyle/>
          <a:p>
            <a:pPr indent="0" marL="0">
              <a:lnSpc>
                <a:spcPts val="3000"/>
              </a:lnSpc>
              <a:buNone/>
            </a:pPr>
            <a:r>
              <a:rPr lang="en-US" sz="2400" b="1" dirty="0">
                <a:solidFill>
                  <a:srgbClr val="1A241F"/>
                </a:solidFill>
                <a:latin typeface="Cambria" pitchFamily="34" charset="0"/>
                <a:ea typeface="Cambria" pitchFamily="34" charset="-122"/>
                <a:cs typeface="Cambria" pitchFamily="34" charset="-120"/>
              </a:rPr>
              <a:t>Vì sao đấu giá, không phải sàn thương mại điện tử</a:t>
            </a:r>
            <a:endParaRPr lang="en-US" sz="2400" dirty="0"/>
          </a:p>
        </p:txBody>
      </p:sp>
      <p:sp>
        <p:nvSpPr>
          <p:cNvPr id="4" name="Text 2"/>
          <p:cNvSpPr txBox="1"/>
          <p:nvPr/>
        </p:nvSpPr>
        <p:spPr>
          <a:xfrm>
            <a:off x="502920" y="4718304"/>
            <a:ext cx="4572000" cy="219456"/>
          </a:xfrm>
          <a:prstGeom prst="rect">
            <a:avLst/>
          </a:prstGeom>
          <a:noFill/>
          <a:ln/>
        </p:spPr>
        <p:txBody>
          <a:bodyPr wrap="square" lIns="0" tIns="0" rIns="0" bIns="0" rtlCol="0" anchor="ctr"/>
          <a:lstStyle/>
          <a:p>
            <a:pPr indent="0" marL="0">
              <a:buNone/>
            </a:pPr>
            <a:r>
              <a:rPr lang="en-US" sz="900" dirty="0">
                <a:solidFill>
                  <a:srgbClr val="5F7168"/>
                </a:solidFill>
                <a:latin typeface="Calibri" pitchFamily="34" charset="0"/>
                <a:ea typeface="Calibri" pitchFamily="34" charset="-122"/>
                <a:cs typeface="Calibri" pitchFamily="34" charset="-120"/>
              </a:rPr>
              <a:t>Tài Sản Đấu Giá · RE:ACT 2026</a:t>
            </a:r>
            <a:endParaRPr lang="en-US" sz="900" dirty="0"/>
          </a:p>
        </p:txBody>
      </p:sp>
      <p:sp>
        <p:nvSpPr>
          <p:cNvPr id="5" name="Text 3"/>
          <p:cNvSpPr txBox="1"/>
          <p:nvPr/>
        </p:nvSpPr>
        <p:spPr>
          <a:xfrm>
            <a:off x="8092440" y="4718304"/>
            <a:ext cx="548640" cy="219456"/>
          </a:xfrm>
          <a:prstGeom prst="rect">
            <a:avLst/>
          </a:prstGeom>
          <a:noFill/>
          <a:ln/>
        </p:spPr>
        <p:txBody>
          <a:bodyPr wrap="square" lIns="0" tIns="0" rIns="0" bIns="0" rtlCol="0" anchor="ctr"/>
          <a:lstStyle/>
          <a:p>
            <a:pPr algn="r" indent="0" marL="0">
              <a:buNone/>
            </a:pPr>
            <a:r>
              <a:rPr lang="en-US" sz="900" dirty="0">
                <a:solidFill>
                  <a:srgbClr val="5F7168"/>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02920" y="1243584"/>
            <a:ext cx="3931920" cy="2468880"/>
          </a:xfrm>
          <a:prstGeom prst="roundRect">
            <a:avLst>
              <a:gd name="adj" fmla="val 4074"/>
            </a:avLst>
          </a:prstGeom>
          <a:solidFill>
            <a:srgbClr val="EEF3F0"/>
          </a:solidFill>
          <a:ln w="12700">
            <a:solidFill>
              <a:srgbClr val="B7D0C1"/>
            </a:solidFill>
            <a:prstDash val="solid"/>
          </a:ln>
        </p:spPr>
      </p:sp>
      <p:sp>
        <p:nvSpPr>
          <p:cNvPr id="7" name="Text 5"/>
          <p:cNvSpPr txBox="1"/>
          <p:nvPr/>
        </p:nvSpPr>
        <p:spPr>
          <a:xfrm>
            <a:off x="758952" y="1444752"/>
            <a:ext cx="3419856" cy="237744"/>
          </a:xfrm>
          <a:prstGeom prst="rect">
            <a:avLst/>
          </a:prstGeom>
          <a:noFill/>
          <a:ln/>
        </p:spPr>
        <p:txBody>
          <a:bodyPr wrap="square" lIns="0" tIns="0" rIns="0" bIns="0" rtlCol="0" anchor="ctr"/>
          <a:lstStyle/>
          <a:p>
            <a:pPr indent="0" marL="0">
              <a:buNone/>
            </a:pPr>
            <a:r>
              <a:rPr lang="en-US" sz="950" b="1" spc="110" kern="0" dirty="0">
                <a:solidFill>
                  <a:srgbClr val="2E8B5E"/>
                </a:solidFill>
                <a:latin typeface="Calibri" pitchFamily="34" charset="0"/>
                <a:ea typeface="Calibri" pitchFamily="34" charset="-122"/>
                <a:cs typeface="Calibri" pitchFamily="34" charset="-120"/>
              </a:rPr>
              <a:t>HÀNG ĐỘC BẢN</a:t>
            </a:r>
            <a:endParaRPr lang="en-US" sz="950" dirty="0"/>
          </a:p>
        </p:txBody>
      </p:sp>
      <p:sp>
        <p:nvSpPr>
          <p:cNvPr id="8" name="Text 6"/>
          <p:cNvSpPr txBox="1"/>
          <p:nvPr/>
        </p:nvSpPr>
        <p:spPr>
          <a:xfrm>
            <a:off x="758952" y="1682496"/>
            <a:ext cx="3419856" cy="310896"/>
          </a:xfrm>
          <a:prstGeom prst="rect">
            <a:avLst/>
          </a:prstGeom>
          <a:noFill/>
          <a:ln/>
        </p:spPr>
        <p:txBody>
          <a:bodyPr wrap="square" lIns="0" tIns="0" rIns="0" bIns="0" rtlCol="0" anchor="ctr"/>
          <a:lstStyle/>
          <a:p>
            <a:pPr indent="0" marL="0">
              <a:buNone/>
            </a:pPr>
            <a:r>
              <a:rPr lang="en-US" sz="1500" b="1" dirty="0">
                <a:solidFill>
                  <a:srgbClr val="1A241F"/>
                </a:solidFill>
                <a:latin typeface="Cambria" pitchFamily="34" charset="0"/>
                <a:ea typeface="Cambria" pitchFamily="34" charset="-122"/>
                <a:cs typeface="Cambria" pitchFamily="34" charset="-120"/>
              </a:rPr>
              <a:t>Không có giá niêm yết</a:t>
            </a:r>
            <a:endParaRPr lang="en-US" sz="1500" dirty="0"/>
          </a:p>
        </p:txBody>
      </p:sp>
      <p:sp>
        <p:nvSpPr>
          <p:cNvPr id="9" name="Text 7"/>
          <p:cNvSpPr txBox="1"/>
          <p:nvPr/>
        </p:nvSpPr>
        <p:spPr>
          <a:xfrm>
            <a:off x="758952" y="2103120"/>
            <a:ext cx="3419856" cy="146304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150" dirty="0">
                <a:solidFill>
                  <a:srgbClr val="1A241F"/>
                </a:solidFill>
                <a:latin typeface="Calibri" pitchFamily="34" charset="0"/>
                <a:ea typeface="Calibri" pitchFamily="34" charset="-122"/>
                <a:cs typeface="Calibri" pitchFamily="34" charset="-120"/>
              </a:rPr>
              <a:t>Không có cái thứ hai để so giá</a:t>
            </a:r>
            <a:endParaRPr lang="en-US" sz="1150" dirty="0"/>
          </a:p>
          <a:p>
            <a:pPr marL="342900" indent="-342900">
              <a:lnSpc>
                <a:spcPts val="1600"/>
              </a:lnSpc>
              <a:spcAft>
                <a:spcPts val="800"/>
              </a:spcAft>
              <a:buSzPct val="100000"/>
              <a:buChar char="•"/>
            </a:pPr>
            <a:r>
              <a:rPr lang="en-US" sz="1150" dirty="0">
                <a:solidFill>
                  <a:srgbClr val="1A241F"/>
                </a:solidFill>
                <a:latin typeface="Calibri" pitchFamily="34" charset="0"/>
                <a:ea typeface="Calibri" pitchFamily="34" charset="-122"/>
                <a:cs typeface="Calibri" pitchFamily="34" charset="-120"/>
              </a:rPr>
              <a:t>Không có giá tham chiếu thì ai định giá người đó nắm quyền</a:t>
            </a:r>
            <a:endParaRPr lang="en-US" sz="1150" dirty="0"/>
          </a:p>
          <a:p>
            <a:pPr marL="342900" indent="-342900">
              <a:lnSpc>
                <a:spcPts val="1600"/>
              </a:lnSpc>
              <a:spcAft>
                <a:spcPts val="800"/>
              </a:spcAft>
              <a:buSzPct val="100000"/>
              <a:buChar char="•"/>
            </a:pPr>
            <a:r>
              <a:rPr lang="en-US" sz="1150" dirty="0">
                <a:solidFill>
                  <a:srgbClr val="1A241F"/>
                </a:solidFill>
                <a:latin typeface="Calibri" pitchFamily="34" charset="0"/>
                <a:ea typeface="Calibri" pitchFamily="34" charset="-122"/>
                <a:cs typeface="Calibri" pitchFamily="34" charset="-120"/>
              </a:rPr>
              <a:t>Đấu giá để thị trường nói giá, thay vì một người mua duy nhất có mặt</a:t>
            </a:r>
            <a:endParaRPr lang="en-US" sz="1150" dirty="0"/>
          </a:p>
        </p:txBody>
      </p:sp>
      <p:sp>
        <p:nvSpPr>
          <p:cNvPr id="10" name="Shape 8"/>
          <p:cNvSpPr/>
          <p:nvPr/>
        </p:nvSpPr>
        <p:spPr>
          <a:xfrm>
            <a:off x="4709160" y="1243584"/>
            <a:ext cx="3931920" cy="2468880"/>
          </a:xfrm>
          <a:prstGeom prst="roundRect">
            <a:avLst>
              <a:gd name="adj" fmla="val 4074"/>
            </a:avLst>
          </a:prstGeom>
          <a:solidFill>
            <a:srgbClr val="FFFFFF"/>
          </a:solidFill>
          <a:ln w="12700">
            <a:solidFill>
              <a:srgbClr val="DCE5E0"/>
            </a:solidFill>
            <a:prstDash val="solid"/>
          </a:ln>
        </p:spPr>
      </p:sp>
      <p:sp>
        <p:nvSpPr>
          <p:cNvPr id="11" name="Text 9"/>
          <p:cNvSpPr txBox="1"/>
          <p:nvPr/>
        </p:nvSpPr>
        <p:spPr>
          <a:xfrm>
            <a:off x="4965192" y="1444752"/>
            <a:ext cx="3419856" cy="237744"/>
          </a:xfrm>
          <a:prstGeom prst="rect">
            <a:avLst/>
          </a:prstGeom>
          <a:noFill/>
          <a:ln/>
        </p:spPr>
        <p:txBody>
          <a:bodyPr wrap="square" lIns="0" tIns="0" rIns="0" bIns="0" rtlCol="0" anchor="ctr"/>
          <a:lstStyle/>
          <a:p>
            <a:pPr indent="0" marL="0">
              <a:buNone/>
            </a:pPr>
            <a:r>
              <a:rPr lang="en-US" sz="950" b="1" spc="110" kern="0" dirty="0">
                <a:solidFill>
                  <a:srgbClr val="2E8B5E"/>
                </a:solidFill>
                <a:latin typeface="Calibri" pitchFamily="34" charset="0"/>
                <a:ea typeface="Calibri" pitchFamily="34" charset="-122"/>
                <a:cs typeface="Calibri" pitchFamily="34" charset="-120"/>
              </a:rPr>
              <a:t>NGƯỜI MUA Ở XA</a:t>
            </a:r>
            <a:endParaRPr lang="en-US" sz="950" dirty="0"/>
          </a:p>
        </p:txBody>
      </p:sp>
      <p:sp>
        <p:nvSpPr>
          <p:cNvPr id="12" name="Text 10"/>
          <p:cNvSpPr txBox="1"/>
          <p:nvPr/>
        </p:nvSpPr>
        <p:spPr>
          <a:xfrm>
            <a:off x="4965192" y="1682496"/>
            <a:ext cx="3419856" cy="310896"/>
          </a:xfrm>
          <a:prstGeom prst="rect">
            <a:avLst/>
          </a:prstGeom>
          <a:noFill/>
          <a:ln/>
        </p:spPr>
        <p:txBody>
          <a:bodyPr wrap="square" lIns="0" tIns="0" rIns="0" bIns="0" rtlCol="0" anchor="ctr"/>
          <a:lstStyle/>
          <a:p>
            <a:pPr indent="0" marL="0">
              <a:buNone/>
            </a:pPr>
            <a:r>
              <a:rPr lang="en-US" sz="1500" b="1" dirty="0">
                <a:solidFill>
                  <a:srgbClr val="1A241F"/>
                </a:solidFill>
                <a:latin typeface="Cambria" pitchFamily="34" charset="0"/>
                <a:ea typeface="Cambria" pitchFamily="34" charset="-122"/>
                <a:cs typeface="Cambria" pitchFamily="34" charset="-120"/>
              </a:rPr>
              <a:t>Cần bằng chứng, không cần lời hứa</a:t>
            </a:r>
            <a:endParaRPr lang="en-US" sz="1500" dirty="0"/>
          </a:p>
        </p:txBody>
      </p:sp>
      <p:sp>
        <p:nvSpPr>
          <p:cNvPr id="13" name="Text 11"/>
          <p:cNvSpPr txBox="1"/>
          <p:nvPr/>
        </p:nvSpPr>
        <p:spPr>
          <a:xfrm>
            <a:off x="4965192" y="2103120"/>
            <a:ext cx="3419856" cy="1481328"/>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150" dirty="0">
                <a:solidFill>
                  <a:srgbClr val="1A241F"/>
                </a:solidFill>
                <a:latin typeface="Calibri" pitchFamily="34" charset="0"/>
                <a:ea typeface="Calibri" pitchFamily="34" charset="-122"/>
                <a:cs typeface="Calibri" pitchFamily="34" charset="-120"/>
              </a:rPr>
              <a:t>Mô hình 3D và VR tour thay cho việc xem tận tay</a:t>
            </a:r>
            <a:endParaRPr lang="en-US" sz="1150" dirty="0"/>
          </a:p>
          <a:p>
            <a:pPr marL="342900" indent="-342900">
              <a:lnSpc>
                <a:spcPts val="1600"/>
              </a:lnSpc>
              <a:spcAft>
                <a:spcPts val="700"/>
              </a:spcAft>
              <a:buSzPct val="100000"/>
              <a:buChar char="•"/>
            </a:pPr>
            <a:r>
              <a:rPr lang="en-US" sz="1150" dirty="0">
                <a:solidFill>
                  <a:srgbClr val="1A241F"/>
                </a:solidFill>
                <a:latin typeface="Calibri" pitchFamily="34" charset="0"/>
                <a:ea typeface="Calibri" pitchFamily="34" charset="-122"/>
                <a:cs typeface="Calibri" pitchFamily="34" charset="-120"/>
              </a:rPr>
              <a:t>Hồ sơ chứng thực nguồn gốc và nghệ nhân</a:t>
            </a:r>
            <a:endParaRPr lang="en-US" sz="1150" dirty="0"/>
          </a:p>
          <a:p>
            <a:pPr marL="342900" indent="-342900">
              <a:lnSpc>
                <a:spcPts val="1600"/>
              </a:lnSpc>
              <a:spcAft>
                <a:spcPts val="700"/>
              </a:spcAft>
              <a:buSzPct val="100000"/>
              <a:buChar char="•"/>
            </a:pPr>
            <a:r>
              <a:rPr lang="en-US" sz="1150" dirty="0">
                <a:solidFill>
                  <a:srgbClr val="1A241F"/>
                </a:solidFill>
                <a:latin typeface="Calibri" pitchFamily="34" charset="0"/>
                <a:ea typeface="Calibri" pitchFamily="34" charset="-122"/>
                <a:cs typeface="Calibri" pitchFamily="34" charset="-120"/>
              </a:rPr>
              <a:t>Phiên do tổ chức có giấy phép điều hành, ký số và lưu vết</a:t>
            </a:r>
            <a:endParaRPr lang="en-US" sz="1150" dirty="0"/>
          </a:p>
          <a:p>
            <a:pPr marL="342900" indent="-342900">
              <a:lnSpc>
                <a:spcPts val="1600"/>
              </a:lnSpc>
              <a:spcAft>
                <a:spcPts val="700"/>
              </a:spcAft>
              <a:buSzPct val="100000"/>
              <a:buChar char="•"/>
            </a:pPr>
            <a:r>
              <a:rPr lang="en-US" sz="1150" dirty="0">
                <a:solidFill>
                  <a:srgbClr val="1A241F"/>
                </a:solidFill>
                <a:latin typeface="Calibri" pitchFamily="34" charset="0"/>
                <a:ea typeface="Calibri" pitchFamily="34" charset="-122"/>
                <a:cs typeface="Calibri" pitchFamily="34" charset="-120"/>
              </a:rPr>
              <a:t>eKYC cho người ở nước ngoài tham gia hợp lệ</a:t>
            </a:r>
            <a:endParaRPr lang="en-US" sz="1150" dirty="0"/>
          </a:p>
        </p:txBody>
      </p:sp>
      <p:sp>
        <p:nvSpPr>
          <p:cNvPr id="14" name="Shape 12"/>
          <p:cNvSpPr/>
          <p:nvPr/>
        </p:nvSpPr>
        <p:spPr>
          <a:xfrm>
            <a:off x="502920" y="3877056"/>
            <a:ext cx="8138160" cy="603504"/>
          </a:xfrm>
          <a:prstGeom prst="roundRect">
            <a:avLst>
              <a:gd name="adj" fmla="val 16667"/>
            </a:avLst>
          </a:prstGeom>
          <a:solidFill>
            <a:srgbClr val="0F3D2A"/>
          </a:solidFill>
          <a:ln w="12700">
            <a:solidFill>
              <a:srgbClr val="0F3D2A"/>
            </a:solidFill>
            <a:prstDash val="solid"/>
          </a:ln>
        </p:spPr>
      </p:sp>
      <p:sp>
        <p:nvSpPr>
          <p:cNvPr id="15" name="Text 13"/>
          <p:cNvSpPr txBox="1"/>
          <p:nvPr/>
        </p:nvSpPr>
        <p:spPr>
          <a:xfrm>
            <a:off x="777240" y="3877056"/>
            <a:ext cx="7589520" cy="603504"/>
          </a:xfrm>
          <a:prstGeom prst="rect">
            <a:avLst/>
          </a:prstGeom>
          <a:noFill/>
          <a:ln/>
        </p:spPr>
        <p:txBody>
          <a:bodyPr wrap="square" lIns="0" tIns="0" rIns="0" bIns="0" rtlCol="0" anchor="ctr"/>
          <a:lstStyle/>
          <a:p>
            <a:pPr indent="0" marL="0">
              <a:lnSpc>
                <a:spcPts val="1800"/>
              </a:lnSpc>
              <a:buNone/>
            </a:pPr>
            <a:r>
              <a:rPr lang="en-US" sz="1200" dirty="0">
                <a:solidFill>
                  <a:srgbClr val="C7DCCF"/>
                </a:solidFill>
                <a:latin typeface="Calibri" pitchFamily="34" charset="0"/>
                <a:ea typeface="Calibri" pitchFamily="34" charset="-122"/>
                <a:cs typeface="Calibri" pitchFamily="34" charset="-120"/>
              </a:rPr>
              <a:t>Sàn thương mại điện tử cần người bán tự đặt giá — mà chính họ cũng không biết món đó đáng bao nhiêu. </a:t>
            </a:r>
            <a:pPr indent="0" marL="0">
              <a:lnSpc>
                <a:spcPts val="1800"/>
              </a:lnSpc>
              <a:buNone/>
            </a:pPr>
            <a:r>
              <a:rPr lang="en-US" sz="1200" b="1" dirty="0">
                <a:solidFill>
                  <a:srgbClr val="FF7A66"/>
                </a:solidFill>
                <a:latin typeface="Calibri" pitchFamily="34" charset="0"/>
                <a:ea typeface="Calibri" pitchFamily="34" charset="-122"/>
                <a:cs typeface="Calibri" pitchFamily="34" charset="-120"/>
              </a:rPr>
              <a:t>Đấu giá để thị trường trả lời câu hỏi đó.</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219456"/>
          </a:xfrm>
          <a:prstGeom prst="rect">
            <a:avLst/>
          </a:prstGeom>
          <a:noFill/>
          <a:ln/>
        </p:spPr>
        <p:txBody>
          <a:bodyPr wrap="square" lIns="0" tIns="0" rIns="0" bIns="0" rtlCol="0" anchor="ctr"/>
          <a:lstStyle/>
          <a:p>
            <a:pPr indent="0" marL="0">
              <a:buNone/>
            </a:pPr>
            <a:r>
              <a:rPr lang="en-US" sz="1050" b="1" spc="160" kern="0" dirty="0">
                <a:solidFill>
                  <a:srgbClr val="2E8B5E"/>
                </a:solidFill>
                <a:latin typeface="Calibri" pitchFamily="34" charset="0"/>
                <a:ea typeface="Calibri" pitchFamily="34" charset="-122"/>
                <a:cs typeface="Calibri" pitchFamily="34" charset="-120"/>
              </a:rPr>
              <a:t>MỨC ĐỘ SẴN SÀNG</a:t>
            </a:r>
            <a:endParaRPr lang="en-US" sz="1050" dirty="0"/>
          </a:p>
        </p:txBody>
      </p:sp>
      <p:sp>
        <p:nvSpPr>
          <p:cNvPr id="3" name="Text 1"/>
          <p:cNvSpPr txBox="1"/>
          <p:nvPr/>
        </p:nvSpPr>
        <p:spPr>
          <a:xfrm>
            <a:off x="502920" y="548640"/>
            <a:ext cx="8138160" cy="457200"/>
          </a:xfrm>
          <a:prstGeom prst="rect">
            <a:avLst/>
          </a:prstGeom>
          <a:noFill/>
          <a:ln/>
        </p:spPr>
        <p:txBody>
          <a:bodyPr wrap="square" lIns="0" tIns="0" rIns="0" bIns="0" rtlCol="0" anchor="ctr"/>
          <a:lstStyle/>
          <a:p>
            <a:pPr indent="0" marL="0">
              <a:lnSpc>
                <a:spcPts val="3000"/>
              </a:lnSpc>
              <a:buNone/>
            </a:pPr>
            <a:r>
              <a:rPr lang="en-US" sz="2400" b="1" dirty="0">
                <a:solidFill>
                  <a:srgbClr val="1A241F"/>
                </a:solidFill>
                <a:latin typeface="Cambria" pitchFamily="34" charset="0"/>
                <a:ea typeface="Cambria" pitchFamily="34" charset="-122"/>
                <a:cs typeface="Cambria" pitchFamily="34" charset="-120"/>
              </a:rPr>
              <a:t>Phần còn lại xong trước khi Living Labs bắt đầu</a:t>
            </a:r>
            <a:endParaRPr lang="en-US" sz="2400" dirty="0"/>
          </a:p>
        </p:txBody>
      </p:sp>
      <p:sp>
        <p:nvSpPr>
          <p:cNvPr id="4" name="Text 2"/>
          <p:cNvSpPr txBox="1"/>
          <p:nvPr/>
        </p:nvSpPr>
        <p:spPr>
          <a:xfrm>
            <a:off x="502920" y="4718304"/>
            <a:ext cx="4572000" cy="219456"/>
          </a:xfrm>
          <a:prstGeom prst="rect">
            <a:avLst/>
          </a:prstGeom>
          <a:noFill/>
          <a:ln/>
        </p:spPr>
        <p:txBody>
          <a:bodyPr wrap="square" lIns="0" tIns="0" rIns="0" bIns="0" rtlCol="0" anchor="ctr"/>
          <a:lstStyle/>
          <a:p>
            <a:pPr indent="0" marL="0">
              <a:buNone/>
            </a:pPr>
            <a:r>
              <a:rPr lang="en-US" sz="900" dirty="0">
                <a:solidFill>
                  <a:srgbClr val="5F7168"/>
                </a:solidFill>
                <a:latin typeface="Calibri" pitchFamily="34" charset="0"/>
                <a:ea typeface="Calibri" pitchFamily="34" charset="-122"/>
                <a:cs typeface="Calibri" pitchFamily="34" charset="-120"/>
              </a:rPr>
              <a:t>Tài Sản Đấu Giá · RE:ACT 2026</a:t>
            </a:r>
            <a:endParaRPr lang="en-US" sz="900" dirty="0"/>
          </a:p>
        </p:txBody>
      </p:sp>
      <p:sp>
        <p:nvSpPr>
          <p:cNvPr id="5" name="Text 3"/>
          <p:cNvSpPr txBox="1"/>
          <p:nvPr/>
        </p:nvSpPr>
        <p:spPr>
          <a:xfrm>
            <a:off x="8092440" y="4718304"/>
            <a:ext cx="548640" cy="219456"/>
          </a:xfrm>
          <a:prstGeom prst="rect">
            <a:avLst/>
          </a:prstGeom>
          <a:noFill/>
          <a:ln/>
        </p:spPr>
        <p:txBody>
          <a:bodyPr wrap="square" lIns="0" tIns="0" rIns="0" bIns="0" rtlCol="0" anchor="ctr"/>
          <a:lstStyle/>
          <a:p>
            <a:pPr algn="r" indent="0" marL="0">
              <a:buNone/>
            </a:pPr>
            <a:r>
              <a:rPr lang="en-US" sz="900" dirty="0">
                <a:solidFill>
                  <a:srgbClr val="5F7168"/>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02920" y="1188720"/>
            <a:ext cx="2529840" cy="969264"/>
          </a:xfrm>
          <a:prstGeom prst="roundRect">
            <a:avLst>
              <a:gd name="adj" fmla="val 10377"/>
            </a:avLst>
          </a:prstGeom>
          <a:solidFill>
            <a:srgbClr val="0F3D2A"/>
          </a:solidFill>
          <a:ln w="12700">
            <a:solidFill>
              <a:srgbClr val="0F3D2A"/>
            </a:solidFill>
            <a:prstDash val="solid"/>
          </a:ln>
        </p:spPr>
      </p:sp>
      <p:sp>
        <p:nvSpPr>
          <p:cNvPr id="7" name="Text 5"/>
          <p:cNvSpPr txBox="1"/>
          <p:nvPr/>
        </p:nvSpPr>
        <p:spPr>
          <a:xfrm>
            <a:off x="685800" y="1298448"/>
            <a:ext cx="2164080" cy="475488"/>
          </a:xfrm>
          <a:prstGeom prst="rect">
            <a:avLst/>
          </a:prstGeom>
          <a:noFill/>
          <a:ln/>
        </p:spPr>
        <p:txBody>
          <a:bodyPr wrap="square" lIns="0" tIns="0" rIns="0" bIns="0" rtlCol="0" anchor="ctr"/>
          <a:lstStyle/>
          <a:p>
            <a:pPr algn="ctr" indent="0" marL="0">
              <a:buNone/>
            </a:pPr>
            <a:r>
              <a:rPr lang="en-US" sz="2500" b="1" dirty="0">
                <a:solidFill>
                  <a:srgbClr val="FF7A66"/>
                </a:solidFill>
                <a:latin typeface="Cambria" pitchFamily="34" charset="0"/>
                <a:ea typeface="Cambria" pitchFamily="34" charset="-122"/>
                <a:cs typeface="Cambria" pitchFamily="34" charset="-120"/>
              </a:rPr>
              <a:t>692.670+</a:t>
            </a:r>
            <a:endParaRPr lang="en-US" sz="2500" dirty="0"/>
          </a:p>
        </p:txBody>
      </p:sp>
      <p:sp>
        <p:nvSpPr>
          <p:cNvPr id="8" name="Text 6"/>
          <p:cNvSpPr txBox="1"/>
          <p:nvPr/>
        </p:nvSpPr>
        <p:spPr>
          <a:xfrm>
            <a:off x="685800" y="1773936"/>
            <a:ext cx="2164080" cy="256032"/>
          </a:xfrm>
          <a:prstGeom prst="rect">
            <a:avLst/>
          </a:prstGeom>
          <a:noFill/>
          <a:ln/>
        </p:spPr>
        <p:txBody>
          <a:bodyPr wrap="square" lIns="0" tIns="0" rIns="0" bIns="0" rtlCol="0" anchor="ctr"/>
          <a:lstStyle/>
          <a:p>
            <a:pPr algn="ctr" indent="0" marL="0">
              <a:buNone/>
            </a:pPr>
            <a:r>
              <a:rPr lang="en-US" sz="1100" dirty="0">
                <a:solidFill>
                  <a:srgbClr val="C7DCCF"/>
                </a:solidFill>
                <a:latin typeface="Calibri" pitchFamily="34" charset="0"/>
                <a:ea typeface="Calibri" pitchFamily="34" charset="-122"/>
                <a:cs typeface="Calibri" pitchFamily="34" charset="-120"/>
              </a:rPr>
              <a:t>tài sản đấu giá</a:t>
            </a:r>
            <a:endParaRPr lang="en-US" sz="1100" dirty="0"/>
          </a:p>
        </p:txBody>
      </p:sp>
      <p:sp>
        <p:nvSpPr>
          <p:cNvPr id="9" name="Shape 7"/>
          <p:cNvSpPr/>
          <p:nvPr/>
        </p:nvSpPr>
        <p:spPr>
          <a:xfrm>
            <a:off x="3307080" y="1188720"/>
            <a:ext cx="2529840" cy="969264"/>
          </a:xfrm>
          <a:prstGeom prst="roundRect">
            <a:avLst>
              <a:gd name="adj" fmla="val 10377"/>
            </a:avLst>
          </a:prstGeom>
          <a:solidFill>
            <a:srgbClr val="0F3D2A"/>
          </a:solidFill>
          <a:ln w="12700">
            <a:solidFill>
              <a:srgbClr val="0F3D2A"/>
            </a:solidFill>
            <a:prstDash val="solid"/>
          </a:ln>
        </p:spPr>
      </p:sp>
      <p:sp>
        <p:nvSpPr>
          <p:cNvPr id="10" name="Text 8"/>
          <p:cNvSpPr txBox="1"/>
          <p:nvPr/>
        </p:nvSpPr>
        <p:spPr>
          <a:xfrm>
            <a:off x="3489960" y="1298448"/>
            <a:ext cx="2164080" cy="475488"/>
          </a:xfrm>
          <a:prstGeom prst="rect">
            <a:avLst/>
          </a:prstGeom>
          <a:noFill/>
          <a:ln/>
        </p:spPr>
        <p:txBody>
          <a:bodyPr wrap="square" lIns="0" tIns="0" rIns="0" bIns="0" rtlCol="0" anchor="ctr"/>
          <a:lstStyle/>
          <a:p>
            <a:pPr algn="ctr" indent="0" marL="0">
              <a:buNone/>
            </a:pPr>
            <a:r>
              <a:rPr lang="en-US" sz="2500" b="1" dirty="0">
                <a:solidFill>
                  <a:srgbClr val="FF7A66"/>
                </a:solidFill>
                <a:latin typeface="Cambria" pitchFamily="34" charset="0"/>
                <a:ea typeface="Cambria" pitchFamily="34" charset="-122"/>
                <a:cs typeface="Cambria" pitchFamily="34" charset="-120"/>
              </a:rPr>
              <a:t>570.560+</a:t>
            </a:r>
            <a:endParaRPr lang="en-US" sz="2500" dirty="0"/>
          </a:p>
        </p:txBody>
      </p:sp>
      <p:sp>
        <p:nvSpPr>
          <p:cNvPr id="11" name="Text 9"/>
          <p:cNvSpPr txBox="1"/>
          <p:nvPr/>
        </p:nvSpPr>
        <p:spPr>
          <a:xfrm>
            <a:off x="3489960" y="1773936"/>
            <a:ext cx="2164080" cy="256032"/>
          </a:xfrm>
          <a:prstGeom prst="rect">
            <a:avLst/>
          </a:prstGeom>
          <a:noFill/>
          <a:ln/>
        </p:spPr>
        <p:txBody>
          <a:bodyPr wrap="square" lIns="0" tIns="0" rIns="0" bIns="0" rtlCol="0" anchor="ctr"/>
          <a:lstStyle/>
          <a:p>
            <a:pPr algn="ctr" indent="0" marL="0">
              <a:buNone/>
            </a:pPr>
            <a:r>
              <a:rPr lang="en-US" sz="1100" dirty="0">
                <a:solidFill>
                  <a:srgbClr val="C7DCCF"/>
                </a:solidFill>
                <a:latin typeface="Calibri" pitchFamily="34" charset="0"/>
                <a:ea typeface="Calibri" pitchFamily="34" charset="-122"/>
                <a:cs typeface="Calibri" pitchFamily="34" charset="-120"/>
              </a:rPr>
              <a:t>cuộc đấu giá</a:t>
            </a:r>
            <a:endParaRPr lang="en-US" sz="1100" dirty="0"/>
          </a:p>
        </p:txBody>
      </p:sp>
      <p:sp>
        <p:nvSpPr>
          <p:cNvPr id="12" name="Shape 10"/>
          <p:cNvSpPr/>
          <p:nvPr/>
        </p:nvSpPr>
        <p:spPr>
          <a:xfrm>
            <a:off x="6111240" y="1188720"/>
            <a:ext cx="2529840" cy="969264"/>
          </a:xfrm>
          <a:prstGeom prst="roundRect">
            <a:avLst>
              <a:gd name="adj" fmla="val 10377"/>
            </a:avLst>
          </a:prstGeom>
          <a:solidFill>
            <a:srgbClr val="0F3D2A"/>
          </a:solidFill>
          <a:ln w="12700">
            <a:solidFill>
              <a:srgbClr val="0F3D2A"/>
            </a:solidFill>
            <a:prstDash val="solid"/>
          </a:ln>
        </p:spPr>
      </p:sp>
      <p:sp>
        <p:nvSpPr>
          <p:cNvPr id="13" name="Text 11"/>
          <p:cNvSpPr txBox="1"/>
          <p:nvPr/>
        </p:nvSpPr>
        <p:spPr>
          <a:xfrm>
            <a:off x="6294120" y="1298448"/>
            <a:ext cx="2164080" cy="475488"/>
          </a:xfrm>
          <a:prstGeom prst="rect">
            <a:avLst/>
          </a:prstGeom>
          <a:noFill/>
          <a:ln/>
        </p:spPr>
        <p:txBody>
          <a:bodyPr wrap="square" lIns="0" tIns="0" rIns="0" bIns="0" rtlCol="0" anchor="ctr"/>
          <a:lstStyle/>
          <a:p>
            <a:pPr algn="ctr" indent="0" marL="0">
              <a:buNone/>
            </a:pPr>
            <a:r>
              <a:rPr lang="en-US" sz="2500" b="1" dirty="0">
                <a:solidFill>
                  <a:srgbClr val="FF7A66"/>
                </a:solidFill>
                <a:latin typeface="Cambria" pitchFamily="34" charset="0"/>
                <a:ea typeface="Cambria" pitchFamily="34" charset="-122"/>
                <a:cs typeface="Cambria" pitchFamily="34" charset="-120"/>
              </a:rPr>
              <a:t>670+</a:t>
            </a:r>
            <a:endParaRPr lang="en-US" sz="2500" dirty="0"/>
          </a:p>
        </p:txBody>
      </p:sp>
      <p:sp>
        <p:nvSpPr>
          <p:cNvPr id="14" name="Text 12"/>
          <p:cNvSpPr txBox="1"/>
          <p:nvPr/>
        </p:nvSpPr>
        <p:spPr>
          <a:xfrm>
            <a:off x="6294120" y="1773936"/>
            <a:ext cx="2164080" cy="256032"/>
          </a:xfrm>
          <a:prstGeom prst="rect">
            <a:avLst/>
          </a:prstGeom>
          <a:noFill/>
          <a:ln/>
        </p:spPr>
        <p:txBody>
          <a:bodyPr wrap="square" lIns="0" tIns="0" rIns="0" bIns="0" rtlCol="0" anchor="ctr"/>
          <a:lstStyle/>
          <a:p>
            <a:pPr algn="ctr" indent="0" marL="0">
              <a:buNone/>
            </a:pPr>
            <a:r>
              <a:rPr lang="en-US" sz="1100" dirty="0">
                <a:solidFill>
                  <a:srgbClr val="C7DCCF"/>
                </a:solidFill>
                <a:latin typeface="Calibri" pitchFamily="34" charset="0"/>
                <a:ea typeface="Calibri" pitchFamily="34" charset="-122"/>
                <a:cs typeface="Calibri" pitchFamily="34" charset="-120"/>
              </a:rPr>
              <a:t>công ty đấu giá</a:t>
            </a:r>
            <a:endParaRPr lang="en-US" sz="1100" dirty="0"/>
          </a:p>
        </p:txBody>
      </p:sp>
      <p:sp>
        <p:nvSpPr>
          <p:cNvPr id="15" name="Text 13"/>
          <p:cNvSpPr txBox="1"/>
          <p:nvPr/>
        </p:nvSpPr>
        <p:spPr>
          <a:xfrm>
            <a:off x="502920" y="2231136"/>
            <a:ext cx="8138160" cy="256032"/>
          </a:xfrm>
          <a:prstGeom prst="rect">
            <a:avLst/>
          </a:prstGeom>
          <a:noFill/>
          <a:ln/>
        </p:spPr>
        <p:txBody>
          <a:bodyPr wrap="square" lIns="0" tIns="0" rIns="0" bIns="0" rtlCol="0" anchor="ctr"/>
          <a:lstStyle/>
          <a:p>
            <a:pPr algn="ctr" indent="0" marL="0">
              <a:buNone/>
            </a:pPr>
            <a:r>
              <a:rPr lang="en-US" sz="1100" dirty="0">
                <a:solidFill>
                  <a:srgbClr val="5F7168"/>
                </a:solidFill>
                <a:latin typeface="Calibri" pitchFamily="34" charset="0"/>
                <a:ea typeface="Calibri" pitchFamily="34" charset="-122"/>
                <a:cs typeface="Calibri" pitchFamily="34" charset="-120"/>
              </a:rPr>
              <a:t>Ra mắt 23/06/2026 · dữ liệu công khai toàn quốc từ 2020 · ba dịch vụ đã có doanh thu thật</a:t>
            </a:r>
            <a:endParaRPr lang="en-US" sz="1100" dirty="0"/>
          </a:p>
        </p:txBody>
      </p:sp>
      <p:sp>
        <p:nvSpPr>
          <p:cNvPr id="16" name="Shape 14"/>
          <p:cNvSpPr/>
          <p:nvPr/>
        </p:nvSpPr>
        <p:spPr>
          <a:xfrm>
            <a:off x="502920" y="2651760"/>
            <a:ext cx="3931920" cy="1316736"/>
          </a:xfrm>
          <a:prstGeom prst="roundRect">
            <a:avLst>
              <a:gd name="adj" fmla="val 7639"/>
            </a:avLst>
          </a:prstGeom>
          <a:solidFill>
            <a:srgbClr val="EEF3F0"/>
          </a:solidFill>
          <a:ln w="12700">
            <a:solidFill>
              <a:srgbClr val="B7D0C1"/>
            </a:solidFill>
            <a:prstDash val="solid"/>
          </a:ln>
        </p:spPr>
      </p:sp>
      <p:sp>
        <p:nvSpPr>
          <p:cNvPr id="17" name="Text 15"/>
          <p:cNvSpPr txBox="1"/>
          <p:nvPr/>
        </p:nvSpPr>
        <p:spPr>
          <a:xfrm>
            <a:off x="758952" y="2834640"/>
            <a:ext cx="3419856" cy="219456"/>
          </a:xfrm>
          <a:prstGeom prst="rect">
            <a:avLst/>
          </a:prstGeom>
          <a:noFill/>
          <a:ln/>
        </p:spPr>
        <p:txBody>
          <a:bodyPr wrap="square" lIns="0" tIns="0" rIns="0" bIns="0" rtlCol="0" anchor="ctr"/>
          <a:lstStyle/>
          <a:p>
            <a:pPr indent="0" marL="0">
              <a:buNone/>
            </a:pPr>
            <a:r>
              <a:rPr lang="en-US" sz="950" b="1" spc="110" kern="0" dirty="0">
                <a:solidFill>
                  <a:srgbClr val="2E8B5E"/>
                </a:solidFill>
                <a:latin typeface="Calibri" pitchFamily="34" charset="0"/>
                <a:ea typeface="Calibri" pitchFamily="34" charset="-122"/>
                <a:cs typeface="Calibri" pitchFamily="34" charset="-120"/>
              </a:rPr>
              <a:t>GIAI ĐOẠN 1 · ĐÃ VẬN HÀNH</a:t>
            </a:r>
            <a:endParaRPr lang="en-US" sz="950" dirty="0"/>
          </a:p>
        </p:txBody>
      </p:sp>
      <p:sp>
        <p:nvSpPr>
          <p:cNvPr id="18" name="Text 16"/>
          <p:cNvSpPr txBox="1"/>
          <p:nvPr/>
        </p:nvSpPr>
        <p:spPr>
          <a:xfrm>
            <a:off x="758952" y="3054096"/>
            <a:ext cx="3419856" cy="310896"/>
          </a:xfrm>
          <a:prstGeom prst="rect">
            <a:avLst/>
          </a:prstGeom>
          <a:noFill/>
          <a:ln/>
        </p:spPr>
        <p:txBody>
          <a:bodyPr wrap="square" lIns="0" tIns="0" rIns="0" bIns="0" rtlCol="0" anchor="ctr"/>
          <a:lstStyle/>
          <a:p>
            <a:pPr indent="0" marL="0">
              <a:buNone/>
            </a:pPr>
            <a:r>
              <a:rPr lang="en-US" sz="1500" b="1" dirty="0">
                <a:solidFill>
                  <a:srgbClr val="1A241F"/>
                </a:solidFill>
                <a:latin typeface="Cambria" pitchFamily="34" charset="0"/>
                <a:ea typeface="Cambria" pitchFamily="34" charset="-122"/>
                <a:cs typeface="Cambria" pitchFamily="34" charset="-120"/>
              </a:rPr>
              <a:t>Dữ liệu đấu giá công khai</a:t>
            </a:r>
            <a:endParaRPr lang="en-US" sz="1500" dirty="0"/>
          </a:p>
        </p:txBody>
      </p:sp>
      <p:sp>
        <p:nvSpPr>
          <p:cNvPr id="19" name="Text 17"/>
          <p:cNvSpPr txBox="1"/>
          <p:nvPr/>
        </p:nvSpPr>
        <p:spPr>
          <a:xfrm>
            <a:off x="758952" y="3419856"/>
            <a:ext cx="3419856" cy="457200"/>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Thu thập, chuẩn hóa dữ liệu toàn quốc và khai thác giá trị từ đó.</a:t>
            </a:r>
            <a:endParaRPr lang="en-US" sz="1150" dirty="0"/>
          </a:p>
        </p:txBody>
      </p:sp>
      <p:sp>
        <p:nvSpPr>
          <p:cNvPr id="20" name="Shape 18"/>
          <p:cNvSpPr/>
          <p:nvPr/>
        </p:nvSpPr>
        <p:spPr>
          <a:xfrm>
            <a:off x="4709160" y="2651760"/>
            <a:ext cx="3931920" cy="1316736"/>
          </a:xfrm>
          <a:prstGeom prst="roundRect">
            <a:avLst>
              <a:gd name="adj" fmla="val 7639"/>
            </a:avLst>
          </a:prstGeom>
          <a:solidFill>
            <a:srgbClr val="FFFFFF"/>
          </a:solidFill>
          <a:ln w="12700">
            <a:solidFill>
              <a:srgbClr val="9EC3AC"/>
            </a:solidFill>
            <a:prstDash val="solid"/>
          </a:ln>
        </p:spPr>
      </p:sp>
      <p:sp>
        <p:nvSpPr>
          <p:cNvPr id="21" name="Text 19"/>
          <p:cNvSpPr txBox="1"/>
          <p:nvPr/>
        </p:nvSpPr>
        <p:spPr>
          <a:xfrm>
            <a:off x="4965192" y="2834640"/>
            <a:ext cx="3419856" cy="219456"/>
          </a:xfrm>
          <a:prstGeom prst="rect">
            <a:avLst/>
          </a:prstGeom>
          <a:noFill/>
          <a:ln/>
        </p:spPr>
        <p:txBody>
          <a:bodyPr wrap="square" lIns="0" tIns="0" rIns="0" bIns="0" rtlCol="0" anchor="ctr"/>
          <a:lstStyle/>
          <a:p>
            <a:pPr indent="0" marL="0">
              <a:buNone/>
            </a:pPr>
            <a:r>
              <a:rPr lang="en-US" sz="950" b="1" spc="110" kern="0" dirty="0">
                <a:solidFill>
                  <a:srgbClr val="2E8B5E"/>
                </a:solidFill>
                <a:latin typeface="Calibri" pitchFamily="34" charset="0"/>
                <a:ea typeface="Calibri" pitchFamily="34" charset="-122"/>
                <a:cs typeface="Calibri" pitchFamily="34" charset="-120"/>
              </a:rPr>
              <a:t>GIAI ĐOẠN 2 · XONG CUỐI T10/2026</a:t>
            </a:r>
            <a:endParaRPr lang="en-US" sz="950" dirty="0"/>
          </a:p>
        </p:txBody>
      </p:sp>
      <p:sp>
        <p:nvSpPr>
          <p:cNvPr id="22" name="Text 20"/>
          <p:cNvSpPr txBox="1"/>
          <p:nvPr/>
        </p:nvSpPr>
        <p:spPr>
          <a:xfrm>
            <a:off x="4965192" y="3054096"/>
            <a:ext cx="3419856" cy="310896"/>
          </a:xfrm>
          <a:prstGeom prst="rect">
            <a:avLst/>
          </a:prstGeom>
          <a:noFill/>
          <a:ln/>
        </p:spPr>
        <p:txBody>
          <a:bodyPr wrap="square" lIns="0" tIns="0" rIns="0" bIns="0" rtlCol="0" anchor="ctr"/>
          <a:lstStyle/>
          <a:p>
            <a:pPr indent="0" marL="0">
              <a:buNone/>
            </a:pPr>
            <a:r>
              <a:rPr lang="en-US" sz="1500" b="1" dirty="0">
                <a:solidFill>
                  <a:srgbClr val="1A241F"/>
                </a:solidFill>
                <a:latin typeface="Cambria" pitchFamily="34" charset="0"/>
                <a:ea typeface="Cambria" pitchFamily="34" charset="-122"/>
                <a:cs typeface="Cambria" pitchFamily="34" charset="-120"/>
              </a:rPr>
              <a:t>Số hóa tài sản &amp; đấu giá online</a:t>
            </a:r>
            <a:endParaRPr lang="en-US" sz="1500" dirty="0"/>
          </a:p>
        </p:txBody>
      </p:sp>
      <p:sp>
        <p:nvSpPr>
          <p:cNvPr id="23" name="Text 21"/>
          <p:cNvSpPr txBox="1"/>
          <p:nvPr/>
        </p:nvSpPr>
        <p:spPr>
          <a:xfrm>
            <a:off x="4965192" y="3419856"/>
            <a:ext cx="3419856" cy="457200"/>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Hồ sơ tài sản số, đấu giá tự nguyện, phiên trực tuyến đầu–cuối.</a:t>
            </a:r>
            <a:endParaRPr lang="en-US" sz="1150" dirty="0"/>
          </a:p>
        </p:txBody>
      </p:sp>
      <p:sp>
        <p:nvSpPr>
          <p:cNvPr id="24" name="Shape 22"/>
          <p:cNvSpPr/>
          <p:nvPr/>
        </p:nvSpPr>
        <p:spPr>
          <a:xfrm>
            <a:off x="502920" y="4059936"/>
            <a:ext cx="8138160" cy="603504"/>
          </a:xfrm>
          <a:prstGeom prst="roundRect">
            <a:avLst>
              <a:gd name="adj" fmla="val 16667"/>
            </a:avLst>
          </a:prstGeom>
          <a:solidFill>
            <a:srgbClr val="0F3D2A"/>
          </a:solidFill>
          <a:ln w="12700">
            <a:solidFill>
              <a:srgbClr val="0F3D2A"/>
            </a:solidFill>
            <a:prstDash val="solid"/>
          </a:ln>
        </p:spPr>
      </p:sp>
      <p:sp>
        <p:nvSpPr>
          <p:cNvPr id="25" name="Text 23"/>
          <p:cNvSpPr txBox="1"/>
          <p:nvPr/>
        </p:nvSpPr>
        <p:spPr>
          <a:xfrm>
            <a:off x="777240" y="4059936"/>
            <a:ext cx="7589520" cy="603504"/>
          </a:xfrm>
          <a:prstGeom prst="rect">
            <a:avLst/>
          </a:prstGeom>
          <a:noFill/>
          <a:ln/>
        </p:spPr>
        <p:txBody>
          <a:bodyPr wrap="square" lIns="0" tIns="0" rIns="0" bIns="0" rtlCol="0" anchor="ctr"/>
          <a:lstStyle/>
          <a:p>
            <a:pPr indent="0" marL="0">
              <a:lnSpc>
                <a:spcPts val="1800"/>
              </a:lnSpc>
              <a:buNone/>
            </a:pPr>
            <a:r>
              <a:rPr lang="en-US" sz="1200" dirty="0">
                <a:solidFill>
                  <a:srgbClr val="C7DCCF"/>
                </a:solidFill>
                <a:latin typeface="Calibri" pitchFamily="34" charset="0"/>
                <a:ea typeface="Calibri" pitchFamily="34" charset="-122"/>
                <a:cs typeface="Calibri" pitchFamily="34" charset="-120"/>
              </a:rPr>
              <a:t>Giai đoạn 2 xong đúng lúc Living Labs khởi động. </a:t>
            </a:r>
            <a:pPr indent="0" marL="0">
              <a:lnSpc>
                <a:spcPts val="1800"/>
              </a:lnSpc>
              <a:buNone/>
            </a:pPr>
            <a:r>
              <a:rPr lang="en-US" sz="1200" b="1" dirty="0">
                <a:solidFill>
                  <a:srgbClr val="FF7A66"/>
                </a:solidFill>
                <a:latin typeface="Calibri" pitchFamily="34" charset="0"/>
                <a:ea typeface="Calibri" pitchFamily="34" charset="-122"/>
                <a:cs typeface="Calibri" pitchFamily="34" charset="-120"/>
              </a:rPr>
              <a:t>Chúng tôi vào chương trình với sản phẩm sẵn sàng, không phải với một kế hoạch xây.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219456"/>
          </a:xfrm>
          <a:prstGeom prst="rect">
            <a:avLst/>
          </a:prstGeom>
          <a:noFill/>
          <a:ln/>
        </p:spPr>
        <p:txBody>
          <a:bodyPr wrap="square" lIns="0" tIns="0" rIns="0" bIns="0" rtlCol="0" anchor="ctr"/>
          <a:lstStyle/>
          <a:p>
            <a:pPr indent="0" marL="0">
              <a:buNone/>
            </a:pPr>
            <a:r>
              <a:rPr lang="en-US" sz="1050" b="1" spc="160" kern="0" dirty="0">
                <a:solidFill>
                  <a:srgbClr val="2E8B5E"/>
                </a:solidFill>
                <a:latin typeface="Calibri" pitchFamily="34" charset="0"/>
                <a:ea typeface="Calibri" pitchFamily="34" charset="-122"/>
                <a:cs typeface="Calibri" pitchFamily="34" charset="-120"/>
              </a:rPr>
              <a:t>NHÓM CHỦ ĐỀ 1</a:t>
            </a:r>
            <a:endParaRPr lang="en-US" sz="1050" dirty="0"/>
          </a:p>
        </p:txBody>
      </p:sp>
      <p:sp>
        <p:nvSpPr>
          <p:cNvPr id="3" name="Text 1"/>
          <p:cNvSpPr txBox="1"/>
          <p:nvPr/>
        </p:nvSpPr>
        <p:spPr>
          <a:xfrm>
            <a:off x="502920" y="548640"/>
            <a:ext cx="8138160" cy="457200"/>
          </a:xfrm>
          <a:prstGeom prst="rect">
            <a:avLst/>
          </a:prstGeom>
          <a:noFill/>
          <a:ln/>
        </p:spPr>
        <p:txBody>
          <a:bodyPr wrap="square" lIns="0" tIns="0" rIns="0" bIns="0" rtlCol="0" anchor="ctr"/>
          <a:lstStyle/>
          <a:p>
            <a:pPr indent="0" marL="0">
              <a:lnSpc>
                <a:spcPts val="3000"/>
              </a:lnSpc>
              <a:buNone/>
            </a:pPr>
            <a:r>
              <a:rPr lang="en-US" sz="2400" b="1" dirty="0">
                <a:solidFill>
                  <a:srgbClr val="1A241F"/>
                </a:solidFill>
                <a:latin typeface="Cambria" pitchFamily="34" charset="0"/>
                <a:ea typeface="Cambria" pitchFamily="34" charset="-122"/>
                <a:cs typeface="Cambria" pitchFamily="34" charset="-120"/>
              </a:rPr>
              <a:t>Ba mục tiêu của Nhóm 1, ba việc giải pháp này làm</a:t>
            </a:r>
            <a:endParaRPr lang="en-US" sz="2400" dirty="0"/>
          </a:p>
        </p:txBody>
      </p:sp>
      <p:sp>
        <p:nvSpPr>
          <p:cNvPr id="4" name="Text 2"/>
          <p:cNvSpPr txBox="1"/>
          <p:nvPr/>
        </p:nvSpPr>
        <p:spPr>
          <a:xfrm>
            <a:off x="502920" y="4718304"/>
            <a:ext cx="4572000" cy="219456"/>
          </a:xfrm>
          <a:prstGeom prst="rect">
            <a:avLst/>
          </a:prstGeom>
          <a:noFill/>
          <a:ln/>
        </p:spPr>
        <p:txBody>
          <a:bodyPr wrap="square" lIns="0" tIns="0" rIns="0" bIns="0" rtlCol="0" anchor="ctr"/>
          <a:lstStyle/>
          <a:p>
            <a:pPr indent="0" marL="0">
              <a:buNone/>
            </a:pPr>
            <a:r>
              <a:rPr lang="en-US" sz="900" dirty="0">
                <a:solidFill>
                  <a:srgbClr val="5F7168"/>
                </a:solidFill>
                <a:latin typeface="Calibri" pitchFamily="34" charset="0"/>
                <a:ea typeface="Calibri" pitchFamily="34" charset="-122"/>
                <a:cs typeface="Calibri" pitchFamily="34" charset="-120"/>
              </a:rPr>
              <a:t>Tài Sản Đấu Giá · RE:ACT 2026</a:t>
            </a:r>
            <a:endParaRPr lang="en-US" sz="900" dirty="0"/>
          </a:p>
        </p:txBody>
      </p:sp>
      <p:sp>
        <p:nvSpPr>
          <p:cNvPr id="5" name="Text 3"/>
          <p:cNvSpPr txBox="1"/>
          <p:nvPr/>
        </p:nvSpPr>
        <p:spPr>
          <a:xfrm>
            <a:off x="8092440" y="4718304"/>
            <a:ext cx="548640" cy="219456"/>
          </a:xfrm>
          <a:prstGeom prst="rect">
            <a:avLst/>
          </a:prstGeom>
          <a:noFill/>
          <a:ln/>
        </p:spPr>
        <p:txBody>
          <a:bodyPr wrap="square" lIns="0" tIns="0" rIns="0" bIns="0" rtlCol="0" anchor="ctr"/>
          <a:lstStyle/>
          <a:p>
            <a:pPr algn="r" indent="0" marL="0">
              <a:buNone/>
            </a:pPr>
            <a:r>
              <a:rPr lang="en-US" sz="900" dirty="0">
                <a:solidFill>
                  <a:srgbClr val="5F7168"/>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02920" y="1243584"/>
            <a:ext cx="2554224" cy="2560320"/>
          </a:xfrm>
          <a:prstGeom prst="roundRect">
            <a:avLst>
              <a:gd name="adj" fmla="val 3938"/>
            </a:avLst>
          </a:prstGeom>
          <a:solidFill>
            <a:srgbClr val="EEF3F0"/>
          </a:solidFill>
          <a:ln w="9525">
            <a:solidFill>
              <a:srgbClr val="D8E4DC"/>
            </a:solidFill>
            <a:prstDash val="solid"/>
          </a:ln>
        </p:spPr>
      </p:sp>
      <p:sp>
        <p:nvSpPr>
          <p:cNvPr id="7" name="Shape 5"/>
          <p:cNvSpPr/>
          <p:nvPr/>
        </p:nvSpPr>
        <p:spPr>
          <a:xfrm>
            <a:off x="722376" y="1444752"/>
            <a:ext cx="310896" cy="310896"/>
          </a:xfrm>
          <a:prstGeom prst="ellipse">
            <a:avLst/>
          </a:prstGeom>
          <a:solidFill>
            <a:srgbClr val="1B6A45"/>
          </a:solidFill>
          <a:ln w="12700">
            <a:solidFill>
              <a:srgbClr val="1B6A45"/>
            </a:solidFill>
            <a:prstDash val="solid"/>
          </a:ln>
        </p:spPr>
      </p:sp>
      <p:sp>
        <p:nvSpPr>
          <p:cNvPr id="8" name="Text 6"/>
          <p:cNvSpPr txBox="1"/>
          <p:nvPr/>
        </p:nvSpPr>
        <p:spPr>
          <a:xfrm>
            <a:off x="722376" y="1455725"/>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722376" y="1847088"/>
            <a:ext cx="2115312" cy="548640"/>
          </a:xfrm>
          <a:prstGeom prst="rect">
            <a:avLst/>
          </a:prstGeom>
          <a:noFill/>
          <a:ln/>
        </p:spPr>
        <p:txBody>
          <a:bodyPr wrap="square" lIns="0" tIns="0" rIns="0" bIns="0" rtlCol="0" anchor="ctr"/>
          <a:lstStyle/>
          <a:p>
            <a:pPr indent="0" marL="0">
              <a:lnSpc>
                <a:spcPts val="2000"/>
              </a:lnSpc>
              <a:buNone/>
            </a:pPr>
            <a:r>
              <a:rPr lang="en-US" sz="1500" b="1" dirty="0">
                <a:solidFill>
                  <a:srgbClr val="1A241F"/>
                </a:solidFill>
                <a:latin typeface="Cambria" pitchFamily="34" charset="0"/>
                <a:ea typeface="Cambria" pitchFamily="34" charset="-122"/>
                <a:cs typeface="Cambria" pitchFamily="34" charset="-120"/>
              </a:rPr>
              <a:t>Thu hẹp khoảng cách số</a:t>
            </a:r>
            <a:endParaRPr lang="en-US" sz="1500" dirty="0"/>
          </a:p>
        </p:txBody>
      </p:sp>
      <p:sp>
        <p:nvSpPr>
          <p:cNvPr id="10" name="Text 8"/>
          <p:cNvSpPr txBox="1"/>
          <p:nvPr/>
        </p:nvSpPr>
        <p:spPr>
          <a:xfrm>
            <a:off x="722376" y="2432304"/>
            <a:ext cx="2115312" cy="1243584"/>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Làng nghề chưa có mặt trên không gian số. Hồ sơ tài sản số đưa sản phẩm và tay nghề lên môi trường người mua tìm được.</a:t>
            </a:r>
            <a:endParaRPr lang="en-US" sz="1150" dirty="0"/>
          </a:p>
        </p:txBody>
      </p:sp>
      <p:sp>
        <p:nvSpPr>
          <p:cNvPr id="11" name="Shape 9"/>
          <p:cNvSpPr/>
          <p:nvPr/>
        </p:nvSpPr>
        <p:spPr>
          <a:xfrm>
            <a:off x="3294888" y="1243584"/>
            <a:ext cx="2554224" cy="2560320"/>
          </a:xfrm>
          <a:prstGeom prst="roundRect">
            <a:avLst>
              <a:gd name="adj" fmla="val 3938"/>
            </a:avLst>
          </a:prstGeom>
          <a:solidFill>
            <a:srgbClr val="EEF3F0"/>
          </a:solidFill>
          <a:ln w="9525">
            <a:solidFill>
              <a:srgbClr val="D8E4DC"/>
            </a:solidFill>
            <a:prstDash val="solid"/>
          </a:ln>
        </p:spPr>
      </p:sp>
      <p:sp>
        <p:nvSpPr>
          <p:cNvPr id="12" name="Shape 10"/>
          <p:cNvSpPr/>
          <p:nvPr/>
        </p:nvSpPr>
        <p:spPr>
          <a:xfrm>
            <a:off x="3514344" y="1444752"/>
            <a:ext cx="310896" cy="310896"/>
          </a:xfrm>
          <a:prstGeom prst="ellipse">
            <a:avLst/>
          </a:prstGeom>
          <a:solidFill>
            <a:srgbClr val="1B6A45"/>
          </a:solidFill>
          <a:ln w="12700">
            <a:solidFill>
              <a:srgbClr val="1B6A45"/>
            </a:solidFill>
            <a:prstDash val="solid"/>
          </a:ln>
        </p:spPr>
      </p:sp>
      <p:sp>
        <p:nvSpPr>
          <p:cNvPr id="13" name="Text 11"/>
          <p:cNvSpPr txBox="1"/>
          <p:nvPr/>
        </p:nvSpPr>
        <p:spPr>
          <a:xfrm>
            <a:off x="3514344" y="1455725"/>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2"/>
          <p:cNvSpPr txBox="1"/>
          <p:nvPr/>
        </p:nvSpPr>
        <p:spPr>
          <a:xfrm>
            <a:off x="3514344" y="1847088"/>
            <a:ext cx="2115312" cy="548640"/>
          </a:xfrm>
          <a:prstGeom prst="rect">
            <a:avLst/>
          </a:prstGeom>
          <a:noFill/>
          <a:ln/>
        </p:spPr>
        <p:txBody>
          <a:bodyPr wrap="square" lIns="0" tIns="0" rIns="0" bIns="0" rtlCol="0" anchor="ctr"/>
          <a:lstStyle/>
          <a:p>
            <a:pPr indent="0" marL="0">
              <a:lnSpc>
                <a:spcPts val="2000"/>
              </a:lnSpc>
              <a:buNone/>
            </a:pPr>
            <a:r>
              <a:rPr lang="en-US" sz="1500" b="1" dirty="0">
                <a:solidFill>
                  <a:srgbClr val="1A241F"/>
                </a:solidFill>
                <a:latin typeface="Cambria" pitchFamily="34" charset="0"/>
                <a:ea typeface="Cambria" pitchFamily="34" charset="-122"/>
                <a:cs typeface="Cambria" pitchFamily="34" charset="-120"/>
              </a:rPr>
              <a:t>Thúc đẩy hòa nhập xã hội</a:t>
            </a:r>
            <a:endParaRPr lang="en-US" sz="1500" dirty="0"/>
          </a:p>
        </p:txBody>
      </p:sp>
      <p:sp>
        <p:nvSpPr>
          <p:cNvPr id="15" name="Text 13"/>
          <p:cNvSpPr txBox="1"/>
          <p:nvPr/>
        </p:nvSpPr>
        <p:spPr>
          <a:xfrm>
            <a:off x="3514344" y="2432304"/>
            <a:ext cx="2115312" cy="1243584"/>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Hộ sản xuất phi chính thức lần đầu tiếp cận một cơ chế định giá công khai, thay vì phụ thuộc người mua duy nhất có mặt.</a:t>
            </a:r>
            <a:endParaRPr lang="en-US" sz="1150" dirty="0"/>
          </a:p>
        </p:txBody>
      </p:sp>
      <p:sp>
        <p:nvSpPr>
          <p:cNvPr id="16" name="Shape 14"/>
          <p:cNvSpPr/>
          <p:nvPr/>
        </p:nvSpPr>
        <p:spPr>
          <a:xfrm>
            <a:off x="6086856" y="1243584"/>
            <a:ext cx="2554224" cy="2560320"/>
          </a:xfrm>
          <a:prstGeom prst="roundRect">
            <a:avLst>
              <a:gd name="adj" fmla="val 3938"/>
            </a:avLst>
          </a:prstGeom>
          <a:solidFill>
            <a:srgbClr val="EEF3F0"/>
          </a:solidFill>
          <a:ln w="9525">
            <a:solidFill>
              <a:srgbClr val="D8E4DC"/>
            </a:solidFill>
            <a:prstDash val="solid"/>
          </a:ln>
        </p:spPr>
      </p:sp>
      <p:sp>
        <p:nvSpPr>
          <p:cNvPr id="17" name="Shape 15"/>
          <p:cNvSpPr/>
          <p:nvPr/>
        </p:nvSpPr>
        <p:spPr>
          <a:xfrm>
            <a:off x="6306312" y="1444752"/>
            <a:ext cx="310896" cy="310896"/>
          </a:xfrm>
          <a:prstGeom prst="ellipse">
            <a:avLst/>
          </a:prstGeom>
          <a:solidFill>
            <a:srgbClr val="1B6A45"/>
          </a:solidFill>
          <a:ln w="12700">
            <a:solidFill>
              <a:srgbClr val="1B6A45"/>
            </a:solidFill>
            <a:prstDash val="solid"/>
          </a:ln>
        </p:spPr>
      </p:sp>
      <p:sp>
        <p:nvSpPr>
          <p:cNvPr id="18" name="Text 16"/>
          <p:cNvSpPr txBox="1"/>
          <p:nvPr/>
        </p:nvSpPr>
        <p:spPr>
          <a:xfrm>
            <a:off x="6306312" y="1455725"/>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7"/>
          <p:cNvSpPr txBox="1"/>
          <p:nvPr/>
        </p:nvSpPr>
        <p:spPr>
          <a:xfrm>
            <a:off x="6306312" y="1847088"/>
            <a:ext cx="2115312" cy="548640"/>
          </a:xfrm>
          <a:prstGeom prst="rect">
            <a:avLst/>
          </a:prstGeom>
          <a:noFill/>
          <a:ln/>
        </p:spPr>
        <p:txBody>
          <a:bodyPr wrap="square" lIns="0" tIns="0" rIns="0" bIns="0" rtlCol="0" anchor="ctr"/>
          <a:lstStyle/>
          <a:p>
            <a:pPr indent="0" marL="0">
              <a:lnSpc>
                <a:spcPts val="2000"/>
              </a:lnSpc>
              <a:buNone/>
            </a:pPr>
            <a:r>
              <a:rPr lang="en-US" sz="1500" b="1" dirty="0">
                <a:solidFill>
                  <a:srgbClr val="1A241F"/>
                </a:solidFill>
                <a:latin typeface="Cambria" pitchFamily="34" charset="0"/>
                <a:ea typeface="Cambria" pitchFamily="34" charset="-122"/>
                <a:cs typeface="Cambria" pitchFamily="34" charset="-120"/>
              </a:rPr>
              <a:t>Mở rộng dịch vụ thiết yếu</a:t>
            </a:r>
            <a:endParaRPr lang="en-US" sz="1500" dirty="0"/>
          </a:p>
        </p:txBody>
      </p:sp>
      <p:sp>
        <p:nvSpPr>
          <p:cNvPr id="20" name="Text 18"/>
          <p:cNvSpPr txBox="1"/>
          <p:nvPr/>
        </p:nvSpPr>
        <p:spPr>
          <a:xfrm>
            <a:off x="6306312" y="2432304"/>
            <a:ext cx="2115312" cy="1243584"/>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Kết nối tới tổ chức đấu giá được cấp phép, thẩm định và tư vấn — trước nay chỉ dành cho tài sản giá trị lớn.</a:t>
            </a:r>
            <a:endParaRPr lang="en-US" sz="1150" dirty="0"/>
          </a:p>
        </p:txBody>
      </p:sp>
      <p:sp>
        <p:nvSpPr>
          <p:cNvPr id="21" name="Text 19"/>
          <p:cNvSpPr txBox="1"/>
          <p:nvPr/>
        </p:nvSpPr>
        <p:spPr>
          <a:xfrm>
            <a:off x="502920" y="3986784"/>
            <a:ext cx="8138160" cy="329184"/>
          </a:xfrm>
          <a:prstGeom prst="rect">
            <a:avLst/>
          </a:prstGeom>
          <a:noFill/>
          <a:ln/>
        </p:spPr>
        <p:txBody>
          <a:bodyPr wrap="square" lIns="0" tIns="0" rIns="0" bIns="0" rtlCol="0" anchor="ctr"/>
          <a:lstStyle/>
          <a:p>
            <a:pPr indent="0" marL="0">
              <a:buNone/>
            </a:pPr>
            <a:r>
              <a:rPr lang="en-US" sz="1200" dirty="0">
                <a:solidFill>
                  <a:srgbClr val="1A241F"/>
                </a:solidFill>
                <a:latin typeface="Calibri" pitchFamily="34" charset="0"/>
                <a:ea typeface="Calibri" pitchFamily="34" charset="-122"/>
                <a:cs typeface="Calibri" pitchFamily="34" charset="-120"/>
              </a:rPr>
              <a:t>Và một tác động không nằm trong ba mục tiêu: giữ lại tay nghề trước khi thế hệ cuối cùng biết nghề rời đi.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219456"/>
          </a:xfrm>
          <a:prstGeom prst="rect">
            <a:avLst/>
          </a:prstGeom>
          <a:noFill/>
          <a:ln/>
        </p:spPr>
        <p:txBody>
          <a:bodyPr wrap="square" lIns="0" tIns="0" rIns="0" bIns="0" rtlCol="0" anchor="ctr"/>
          <a:lstStyle/>
          <a:p>
            <a:pPr indent="0" marL="0">
              <a:buNone/>
            </a:pPr>
            <a:r>
              <a:rPr lang="en-US" sz="1050" b="1" spc="160" kern="0" dirty="0">
                <a:solidFill>
                  <a:srgbClr val="2E8B5E"/>
                </a:solidFill>
                <a:latin typeface="Calibri" pitchFamily="34" charset="0"/>
                <a:ea typeface="Calibri" pitchFamily="34" charset="-122"/>
                <a:cs typeface="Calibri" pitchFamily="34" charset="-120"/>
              </a:rPr>
              <a:t>KẾ HOẠCH LIVING LABS</a:t>
            </a:r>
            <a:endParaRPr lang="en-US" sz="1050" dirty="0"/>
          </a:p>
        </p:txBody>
      </p:sp>
      <p:sp>
        <p:nvSpPr>
          <p:cNvPr id="3" name="Text 1"/>
          <p:cNvSpPr txBox="1"/>
          <p:nvPr/>
        </p:nvSpPr>
        <p:spPr>
          <a:xfrm>
            <a:off x="502920" y="548640"/>
            <a:ext cx="8138160" cy="457200"/>
          </a:xfrm>
          <a:prstGeom prst="rect">
            <a:avLst/>
          </a:prstGeom>
          <a:noFill/>
          <a:ln/>
        </p:spPr>
        <p:txBody>
          <a:bodyPr wrap="square" lIns="0" tIns="0" rIns="0" bIns="0" rtlCol="0" anchor="ctr"/>
          <a:lstStyle/>
          <a:p>
            <a:pPr indent="0" marL="0">
              <a:lnSpc>
                <a:spcPts val="3000"/>
              </a:lnSpc>
              <a:buNone/>
            </a:pPr>
            <a:r>
              <a:rPr lang="en-US" sz="2400" b="1" dirty="0">
                <a:solidFill>
                  <a:srgbClr val="1A241F"/>
                </a:solidFill>
                <a:latin typeface="Cambria" pitchFamily="34" charset="0"/>
                <a:ea typeface="Cambria" pitchFamily="34" charset="-122"/>
                <a:cs typeface="Cambria" pitchFamily="34" charset="-120"/>
              </a:rPr>
              <a:t>Sáu tháng, một làng nghề, những phiên đấu giá thật</a:t>
            </a:r>
            <a:endParaRPr lang="en-US" sz="2400" dirty="0"/>
          </a:p>
        </p:txBody>
      </p:sp>
      <p:sp>
        <p:nvSpPr>
          <p:cNvPr id="4" name="Text 2"/>
          <p:cNvSpPr txBox="1"/>
          <p:nvPr/>
        </p:nvSpPr>
        <p:spPr>
          <a:xfrm>
            <a:off x="502920" y="4718304"/>
            <a:ext cx="4572000" cy="219456"/>
          </a:xfrm>
          <a:prstGeom prst="rect">
            <a:avLst/>
          </a:prstGeom>
          <a:noFill/>
          <a:ln/>
        </p:spPr>
        <p:txBody>
          <a:bodyPr wrap="square" lIns="0" tIns="0" rIns="0" bIns="0" rtlCol="0" anchor="ctr"/>
          <a:lstStyle/>
          <a:p>
            <a:pPr indent="0" marL="0">
              <a:buNone/>
            </a:pPr>
            <a:r>
              <a:rPr lang="en-US" sz="900" dirty="0">
                <a:solidFill>
                  <a:srgbClr val="5F7168"/>
                </a:solidFill>
                <a:latin typeface="Calibri" pitchFamily="34" charset="0"/>
                <a:ea typeface="Calibri" pitchFamily="34" charset="-122"/>
                <a:cs typeface="Calibri" pitchFamily="34" charset="-120"/>
              </a:rPr>
              <a:t>Tài Sản Đấu Giá · RE:ACT 2026</a:t>
            </a:r>
            <a:endParaRPr lang="en-US" sz="900" dirty="0"/>
          </a:p>
        </p:txBody>
      </p:sp>
      <p:sp>
        <p:nvSpPr>
          <p:cNvPr id="5" name="Text 3"/>
          <p:cNvSpPr txBox="1"/>
          <p:nvPr/>
        </p:nvSpPr>
        <p:spPr>
          <a:xfrm>
            <a:off x="8092440" y="4718304"/>
            <a:ext cx="548640" cy="219456"/>
          </a:xfrm>
          <a:prstGeom prst="rect">
            <a:avLst/>
          </a:prstGeom>
          <a:noFill/>
          <a:ln/>
        </p:spPr>
        <p:txBody>
          <a:bodyPr wrap="square" lIns="0" tIns="0" rIns="0" bIns="0" rtlCol="0" anchor="ctr"/>
          <a:lstStyle/>
          <a:p>
            <a:pPr algn="r" indent="0" marL="0">
              <a:buNone/>
            </a:pPr>
            <a:r>
              <a:rPr lang="en-US" sz="900" dirty="0">
                <a:solidFill>
                  <a:srgbClr val="5F7168"/>
                </a:solidFill>
                <a:latin typeface="Calibri" pitchFamily="34" charset="0"/>
                <a:ea typeface="Calibri" pitchFamily="34" charset="-122"/>
                <a:cs typeface="Calibri" pitchFamily="34" charset="-120"/>
              </a:rPr>
              <a:t>7</a:t>
            </a:r>
            <a:endParaRPr lang="en-US" sz="900" dirty="0"/>
          </a:p>
        </p:txBody>
      </p:sp>
      <p:sp>
        <p:nvSpPr>
          <p:cNvPr id="6" name="Text 4"/>
          <p:cNvSpPr txBox="1"/>
          <p:nvPr/>
        </p:nvSpPr>
        <p:spPr>
          <a:xfrm>
            <a:off x="502920" y="1307592"/>
            <a:ext cx="1371600" cy="256032"/>
          </a:xfrm>
          <a:prstGeom prst="rect">
            <a:avLst/>
          </a:prstGeom>
          <a:noFill/>
          <a:ln/>
        </p:spPr>
        <p:txBody>
          <a:bodyPr wrap="square" lIns="0" tIns="0" rIns="0" bIns="0" rtlCol="0" anchor="ctr"/>
          <a:lstStyle/>
          <a:p>
            <a:pPr indent="0" marL="0">
              <a:buNone/>
            </a:pPr>
            <a:r>
              <a:rPr lang="en-US" sz="1050" b="1" dirty="0">
                <a:solidFill>
                  <a:srgbClr val="2E8B5E"/>
                </a:solidFill>
                <a:latin typeface="Calibri" pitchFamily="34" charset="0"/>
                <a:ea typeface="Calibri" pitchFamily="34" charset="-122"/>
                <a:cs typeface="Calibri" pitchFamily="34" charset="-120"/>
              </a:rPr>
              <a:t>T10–T11/2026</a:t>
            </a:r>
            <a:endParaRPr lang="en-US" sz="1050" dirty="0"/>
          </a:p>
        </p:txBody>
      </p:sp>
      <p:sp>
        <p:nvSpPr>
          <p:cNvPr id="7" name="Shape 5"/>
          <p:cNvSpPr/>
          <p:nvPr/>
        </p:nvSpPr>
        <p:spPr>
          <a:xfrm>
            <a:off x="1965960" y="1280160"/>
            <a:ext cx="310896" cy="310896"/>
          </a:xfrm>
          <a:prstGeom prst="ellipse">
            <a:avLst/>
          </a:prstGeom>
          <a:solidFill>
            <a:srgbClr val="1B6A45"/>
          </a:solidFill>
          <a:ln w="12700">
            <a:solidFill>
              <a:srgbClr val="1B6A45"/>
            </a:solidFill>
            <a:prstDash val="solid"/>
          </a:ln>
        </p:spPr>
      </p:sp>
      <p:sp>
        <p:nvSpPr>
          <p:cNvPr id="8" name="Text 6"/>
          <p:cNvSpPr txBox="1"/>
          <p:nvPr/>
        </p:nvSpPr>
        <p:spPr>
          <a:xfrm>
            <a:off x="1965960" y="1291133"/>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2441448" y="1280160"/>
            <a:ext cx="2286000" cy="274320"/>
          </a:xfrm>
          <a:prstGeom prst="rect">
            <a:avLst/>
          </a:prstGeom>
          <a:noFill/>
          <a:ln/>
        </p:spPr>
        <p:txBody>
          <a:bodyPr wrap="square" lIns="0" tIns="0" rIns="0" bIns="0" rtlCol="0" anchor="ctr"/>
          <a:lstStyle/>
          <a:p>
            <a:pPr indent="0" marL="0">
              <a:buNone/>
            </a:pPr>
            <a:r>
              <a:rPr lang="en-US" sz="1450" b="1" dirty="0">
                <a:solidFill>
                  <a:srgbClr val="1A241F"/>
                </a:solidFill>
                <a:latin typeface="Cambria" pitchFamily="34" charset="0"/>
                <a:ea typeface="Cambria" pitchFamily="34" charset="-122"/>
                <a:cs typeface="Cambria" pitchFamily="34" charset="-120"/>
              </a:rPr>
              <a:t>Chọn làng &amp; đo nền</a:t>
            </a:r>
            <a:endParaRPr lang="en-US" sz="1450" dirty="0"/>
          </a:p>
        </p:txBody>
      </p:sp>
      <p:sp>
        <p:nvSpPr>
          <p:cNvPr id="10" name="Text 8"/>
          <p:cNvSpPr txBox="1"/>
          <p:nvPr/>
        </p:nvSpPr>
        <p:spPr>
          <a:xfrm>
            <a:off x="4873752" y="1252728"/>
            <a:ext cx="3767328" cy="585216"/>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Giai đoạn 2 đã xong. Chọn làng cùng đối tác cộng đồng, ghi nhận giá thương lái và thu nhập hộ.</a:t>
            </a:r>
            <a:endParaRPr lang="en-US" sz="1150" dirty="0"/>
          </a:p>
        </p:txBody>
      </p:sp>
      <p:sp>
        <p:nvSpPr>
          <p:cNvPr id="11" name="Shape 9"/>
          <p:cNvSpPr/>
          <p:nvPr/>
        </p:nvSpPr>
        <p:spPr>
          <a:xfrm>
            <a:off x="2121408" y="1609344"/>
            <a:ext cx="0" cy="420624"/>
          </a:xfrm>
          <a:prstGeom prst="line">
            <a:avLst/>
          </a:prstGeom>
          <a:noFill/>
          <a:ln w="15875">
            <a:solidFill>
              <a:srgbClr val="C6D8CD"/>
            </a:solidFill>
            <a:prstDash val="solid"/>
          </a:ln>
        </p:spPr>
      </p:sp>
      <p:sp>
        <p:nvSpPr>
          <p:cNvPr id="12" name="Text 10"/>
          <p:cNvSpPr txBox="1"/>
          <p:nvPr/>
        </p:nvSpPr>
        <p:spPr>
          <a:xfrm>
            <a:off x="502920" y="2057400"/>
            <a:ext cx="1371600" cy="256032"/>
          </a:xfrm>
          <a:prstGeom prst="rect">
            <a:avLst/>
          </a:prstGeom>
          <a:noFill/>
          <a:ln/>
        </p:spPr>
        <p:txBody>
          <a:bodyPr wrap="square" lIns="0" tIns="0" rIns="0" bIns="0" rtlCol="0" anchor="ctr"/>
          <a:lstStyle/>
          <a:p>
            <a:pPr indent="0" marL="0">
              <a:buNone/>
            </a:pPr>
            <a:r>
              <a:rPr lang="en-US" sz="1050" b="1" dirty="0">
                <a:solidFill>
                  <a:srgbClr val="2E8B5E"/>
                </a:solidFill>
                <a:latin typeface="Calibri" pitchFamily="34" charset="0"/>
                <a:ea typeface="Calibri" pitchFamily="34" charset="-122"/>
                <a:cs typeface="Calibri" pitchFamily="34" charset="-120"/>
              </a:rPr>
              <a:t>T12/2026–T01/2027</a:t>
            </a:r>
            <a:endParaRPr lang="en-US" sz="1050" dirty="0"/>
          </a:p>
        </p:txBody>
      </p:sp>
      <p:sp>
        <p:nvSpPr>
          <p:cNvPr id="13" name="Shape 11"/>
          <p:cNvSpPr/>
          <p:nvPr/>
        </p:nvSpPr>
        <p:spPr>
          <a:xfrm>
            <a:off x="1965960" y="2029968"/>
            <a:ext cx="310896" cy="310896"/>
          </a:xfrm>
          <a:prstGeom prst="ellipse">
            <a:avLst/>
          </a:prstGeom>
          <a:solidFill>
            <a:srgbClr val="1B6A45"/>
          </a:solidFill>
          <a:ln w="12700">
            <a:solidFill>
              <a:srgbClr val="1B6A45"/>
            </a:solidFill>
            <a:prstDash val="solid"/>
          </a:ln>
        </p:spPr>
      </p:sp>
      <p:sp>
        <p:nvSpPr>
          <p:cNvPr id="14" name="Text 12"/>
          <p:cNvSpPr txBox="1"/>
          <p:nvPr/>
        </p:nvSpPr>
        <p:spPr>
          <a:xfrm>
            <a:off x="1965960" y="2040941"/>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txBox="1"/>
          <p:nvPr/>
        </p:nvSpPr>
        <p:spPr>
          <a:xfrm>
            <a:off x="2441448" y="2029968"/>
            <a:ext cx="2286000" cy="274320"/>
          </a:xfrm>
          <a:prstGeom prst="rect">
            <a:avLst/>
          </a:prstGeom>
          <a:noFill/>
          <a:ln/>
        </p:spPr>
        <p:txBody>
          <a:bodyPr wrap="square" lIns="0" tIns="0" rIns="0" bIns="0" rtlCol="0" anchor="ctr"/>
          <a:lstStyle/>
          <a:p>
            <a:pPr indent="0" marL="0">
              <a:buNone/>
            </a:pPr>
            <a:r>
              <a:rPr lang="en-US" sz="1450" b="1" dirty="0">
                <a:solidFill>
                  <a:srgbClr val="1A241F"/>
                </a:solidFill>
                <a:latin typeface="Cambria" pitchFamily="34" charset="0"/>
                <a:ea typeface="Cambria" pitchFamily="34" charset="-122"/>
                <a:cs typeface="Cambria" pitchFamily="34" charset="-120"/>
              </a:rPr>
              <a:t>Số hóa hồ sơ</a:t>
            </a:r>
            <a:endParaRPr lang="en-US" sz="1450" dirty="0"/>
          </a:p>
        </p:txBody>
      </p:sp>
      <p:sp>
        <p:nvSpPr>
          <p:cNvPr id="16" name="Text 14"/>
          <p:cNvSpPr txBox="1"/>
          <p:nvPr/>
        </p:nvSpPr>
        <p:spPr>
          <a:xfrm>
            <a:off x="4873752" y="2002536"/>
            <a:ext cx="3767328" cy="585216"/>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Hướng dẫn hộ tạo hồ sơ số cho từng sản phẩm.</a:t>
            </a:r>
            <a:endParaRPr lang="en-US" sz="1150" dirty="0"/>
          </a:p>
        </p:txBody>
      </p:sp>
      <p:sp>
        <p:nvSpPr>
          <p:cNvPr id="17" name="Shape 15"/>
          <p:cNvSpPr/>
          <p:nvPr/>
        </p:nvSpPr>
        <p:spPr>
          <a:xfrm>
            <a:off x="2121408" y="2359152"/>
            <a:ext cx="0" cy="420624"/>
          </a:xfrm>
          <a:prstGeom prst="line">
            <a:avLst/>
          </a:prstGeom>
          <a:noFill/>
          <a:ln w="15875">
            <a:solidFill>
              <a:srgbClr val="C6D8CD"/>
            </a:solidFill>
            <a:prstDash val="solid"/>
          </a:ln>
        </p:spPr>
      </p:sp>
      <p:sp>
        <p:nvSpPr>
          <p:cNvPr id="18" name="Text 16"/>
          <p:cNvSpPr txBox="1"/>
          <p:nvPr/>
        </p:nvSpPr>
        <p:spPr>
          <a:xfrm>
            <a:off x="502920" y="2807208"/>
            <a:ext cx="1371600" cy="256032"/>
          </a:xfrm>
          <a:prstGeom prst="rect">
            <a:avLst/>
          </a:prstGeom>
          <a:noFill/>
          <a:ln/>
        </p:spPr>
        <p:txBody>
          <a:bodyPr wrap="square" lIns="0" tIns="0" rIns="0" bIns="0" rtlCol="0" anchor="ctr"/>
          <a:lstStyle/>
          <a:p>
            <a:pPr indent="0" marL="0">
              <a:buNone/>
            </a:pPr>
            <a:r>
              <a:rPr lang="en-US" sz="1050" b="1" dirty="0">
                <a:solidFill>
                  <a:srgbClr val="2E8B5E"/>
                </a:solidFill>
                <a:latin typeface="Calibri" pitchFamily="34" charset="0"/>
                <a:ea typeface="Calibri" pitchFamily="34" charset="-122"/>
                <a:cs typeface="Calibri" pitchFamily="34" charset="-120"/>
              </a:rPr>
              <a:t>T02/2027</a:t>
            </a:r>
            <a:endParaRPr lang="en-US" sz="1050" dirty="0"/>
          </a:p>
        </p:txBody>
      </p:sp>
      <p:sp>
        <p:nvSpPr>
          <p:cNvPr id="19" name="Shape 17"/>
          <p:cNvSpPr/>
          <p:nvPr/>
        </p:nvSpPr>
        <p:spPr>
          <a:xfrm>
            <a:off x="1965960" y="2779776"/>
            <a:ext cx="310896" cy="310896"/>
          </a:xfrm>
          <a:prstGeom prst="ellipse">
            <a:avLst/>
          </a:prstGeom>
          <a:solidFill>
            <a:srgbClr val="1B6A45"/>
          </a:solidFill>
          <a:ln w="12700">
            <a:solidFill>
              <a:srgbClr val="1B6A45"/>
            </a:solidFill>
            <a:prstDash val="solid"/>
          </a:ln>
        </p:spPr>
      </p:sp>
      <p:sp>
        <p:nvSpPr>
          <p:cNvPr id="20" name="Text 18"/>
          <p:cNvSpPr txBox="1"/>
          <p:nvPr/>
        </p:nvSpPr>
        <p:spPr>
          <a:xfrm>
            <a:off x="1965960" y="2790749"/>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9"/>
          <p:cNvSpPr txBox="1"/>
          <p:nvPr/>
        </p:nvSpPr>
        <p:spPr>
          <a:xfrm>
            <a:off x="2441448" y="2779776"/>
            <a:ext cx="2286000" cy="274320"/>
          </a:xfrm>
          <a:prstGeom prst="rect">
            <a:avLst/>
          </a:prstGeom>
          <a:noFill/>
          <a:ln/>
        </p:spPr>
        <p:txBody>
          <a:bodyPr wrap="square" lIns="0" tIns="0" rIns="0" bIns="0" rtlCol="0" anchor="ctr"/>
          <a:lstStyle/>
          <a:p>
            <a:pPr indent="0" marL="0">
              <a:buNone/>
            </a:pPr>
            <a:r>
              <a:rPr lang="en-US" sz="1450" b="1" dirty="0">
                <a:solidFill>
                  <a:srgbClr val="1A241F"/>
                </a:solidFill>
                <a:latin typeface="Cambria" pitchFamily="34" charset="0"/>
                <a:ea typeface="Cambria" pitchFamily="34" charset="-122"/>
                <a:cs typeface="Cambria" pitchFamily="34" charset="-120"/>
              </a:rPr>
              <a:t>Phiên đấu giá thật</a:t>
            </a:r>
            <a:endParaRPr lang="en-US" sz="1450" dirty="0"/>
          </a:p>
        </p:txBody>
      </p:sp>
      <p:sp>
        <p:nvSpPr>
          <p:cNvPr id="22" name="Text 20"/>
          <p:cNvSpPr txBox="1"/>
          <p:nvPr/>
        </p:nvSpPr>
        <p:spPr>
          <a:xfrm>
            <a:off x="4873752" y="2752344"/>
            <a:ext cx="3767328" cy="585216"/>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Tổ chức phiên cùng đơn vị được cấp phép, mở cho cả người mua quốc tế.</a:t>
            </a:r>
            <a:endParaRPr lang="en-US" sz="1150" dirty="0"/>
          </a:p>
        </p:txBody>
      </p:sp>
      <p:sp>
        <p:nvSpPr>
          <p:cNvPr id="23" name="Shape 21"/>
          <p:cNvSpPr/>
          <p:nvPr/>
        </p:nvSpPr>
        <p:spPr>
          <a:xfrm>
            <a:off x="2121408" y="3108960"/>
            <a:ext cx="0" cy="420624"/>
          </a:xfrm>
          <a:prstGeom prst="line">
            <a:avLst/>
          </a:prstGeom>
          <a:noFill/>
          <a:ln w="15875">
            <a:solidFill>
              <a:srgbClr val="C6D8CD"/>
            </a:solidFill>
            <a:prstDash val="solid"/>
          </a:ln>
        </p:spPr>
      </p:sp>
      <p:sp>
        <p:nvSpPr>
          <p:cNvPr id="24" name="Text 22"/>
          <p:cNvSpPr txBox="1"/>
          <p:nvPr/>
        </p:nvSpPr>
        <p:spPr>
          <a:xfrm>
            <a:off x="502920" y="3557016"/>
            <a:ext cx="1371600" cy="256032"/>
          </a:xfrm>
          <a:prstGeom prst="rect">
            <a:avLst/>
          </a:prstGeom>
          <a:noFill/>
          <a:ln/>
        </p:spPr>
        <p:txBody>
          <a:bodyPr wrap="square" lIns="0" tIns="0" rIns="0" bIns="0" rtlCol="0" anchor="ctr"/>
          <a:lstStyle/>
          <a:p>
            <a:pPr indent="0" marL="0">
              <a:buNone/>
            </a:pPr>
            <a:r>
              <a:rPr lang="en-US" sz="1050" b="1" dirty="0">
                <a:solidFill>
                  <a:srgbClr val="2E8B5E"/>
                </a:solidFill>
                <a:latin typeface="Calibri" pitchFamily="34" charset="0"/>
                <a:ea typeface="Calibri" pitchFamily="34" charset="-122"/>
                <a:cs typeface="Calibri" pitchFamily="34" charset="-120"/>
              </a:rPr>
              <a:t>T03–T04/2027</a:t>
            </a:r>
            <a:endParaRPr lang="en-US" sz="1050" dirty="0"/>
          </a:p>
        </p:txBody>
      </p:sp>
      <p:sp>
        <p:nvSpPr>
          <p:cNvPr id="25" name="Shape 23"/>
          <p:cNvSpPr/>
          <p:nvPr/>
        </p:nvSpPr>
        <p:spPr>
          <a:xfrm>
            <a:off x="1965960" y="3529584"/>
            <a:ext cx="310896" cy="310896"/>
          </a:xfrm>
          <a:prstGeom prst="ellipse">
            <a:avLst/>
          </a:prstGeom>
          <a:solidFill>
            <a:srgbClr val="1B6A45"/>
          </a:solidFill>
          <a:ln w="12700">
            <a:solidFill>
              <a:srgbClr val="1B6A45"/>
            </a:solidFill>
            <a:prstDash val="solid"/>
          </a:ln>
        </p:spPr>
      </p:sp>
      <p:sp>
        <p:nvSpPr>
          <p:cNvPr id="26" name="Text 24"/>
          <p:cNvSpPr txBox="1"/>
          <p:nvPr/>
        </p:nvSpPr>
        <p:spPr>
          <a:xfrm>
            <a:off x="1965960" y="3540557"/>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7" name="Text 25"/>
          <p:cNvSpPr txBox="1"/>
          <p:nvPr/>
        </p:nvSpPr>
        <p:spPr>
          <a:xfrm>
            <a:off x="2441448" y="3529584"/>
            <a:ext cx="2286000" cy="274320"/>
          </a:xfrm>
          <a:prstGeom prst="rect">
            <a:avLst/>
          </a:prstGeom>
          <a:noFill/>
          <a:ln/>
        </p:spPr>
        <p:txBody>
          <a:bodyPr wrap="square" lIns="0" tIns="0" rIns="0" bIns="0" rtlCol="0" anchor="ctr"/>
          <a:lstStyle/>
          <a:p>
            <a:pPr indent="0" marL="0">
              <a:buNone/>
            </a:pPr>
            <a:r>
              <a:rPr lang="en-US" sz="1450" b="1" dirty="0">
                <a:solidFill>
                  <a:srgbClr val="1A241F"/>
                </a:solidFill>
                <a:latin typeface="Cambria" pitchFamily="34" charset="0"/>
                <a:ea typeface="Cambria" pitchFamily="34" charset="-122"/>
                <a:cs typeface="Cambria" pitchFamily="34" charset="-120"/>
              </a:rPr>
              <a:t>Đo lường &amp; công bố</a:t>
            </a:r>
            <a:endParaRPr lang="en-US" sz="1450" dirty="0"/>
          </a:p>
        </p:txBody>
      </p:sp>
      <p:sp>
        <p:nvSpPr>
          <p:cNvPr id="28" name="Text 26"/>
          <p:cNvSpPr txBox="1"/>
          <p:nvPr/>
        </p:nvSpPr>
        <p:spPr>
          <a:xfrm>
            <a:off x="4873752" y="3502152"/>
            <a:ext cx="3767328" cy="585216"/>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Công bố giá tham chiếu, đo thay đổi thu nhập, chuẩn bị nhân rộng.</a:t>
            </a:r>
            <a:endParaRPr lang="en-US" sz="1150" dirty="0"/>
          </a:p>
        </p:txBody>
      </p:sp>
      <p:sp>
        <p:nvSpPr>
          <p:cNvPr id="29" name="Shape 27"/>
          <p:cNvSpPr/>
          <p:nvPr/>
        </p:nvSpPr>
        <p:spPr>
          <a:xfrm>
            <a:off x="502920" y="4041648"/>
            <a:ext cx="8138160" cy="548640"/>
          </a:xfrm>
          <a:prstGeom prst="roundRect">
            <a:avLst>
              <a:gd name="adj" fmla="val 18333"/>
            </a:avLst>
          </a:prstGeom>
          <a:solidFill>
            <a:srgbClr val="0F3D2A"/>
          </a:solidFill>
          <a:ln w="12700">
            <a:solidFill>
              <a:srgbClr val="0F3D2A"/>
            </a:solidFill>
            <a:prstDash val="solid"/>
          </a:ln>
        </p:spPr>
      </p:sp>
      <p:sp>
        <p:nvSpPr>
          <p:cNvPr id="30" name="Text 28"/>
          <p:cNvSpPr txBox="1"/>
          <p:nvPr/>
        </p:nvSpPr>
        <p:spPr>
          <a:xfrm>
            <a:off x="777240" y="4041648"/>
            <a:ext cx="7589520" cy="548640"/>
          </a:xfrm>
          <a:prstGeom prst="rect">
            <a:avLst/>
          </a:prstGeom>
          <a:noFill/>
          <a:ln/>
        </p:spPr>
        <p:txBody>
          <a:bodyPr wrap="square" lIns="0" tIns="0" rIns="0" bIns="0" rtlCol="0" anchor="ctr"/>
          <a:lstStyle/>
          <a:p>
            <a:pPr indent="0" marL="0">
              <a:lnSpc>
                <a:spcPts val="1800"/>
              </a:lnSpc>
              <a:buNone/>
            </a:pPr>
            <a:r>
              <a:rPr lang="en-US" sz="1200" dirty="0">
                <a:solidFill>
                  <a:srgbClr val="C7DCCF"/>
                </a:solidFill>
                <a:latin typeface="Calibri" pitchFamily="34" charset="0"/>
                <a:ea typeface="Calibri" pitchFamily="34" charset="-122"/>
                <a:cs typeface="Calibri" pitchFamily="34" charset="-120"/>
              </a:rPr>
              <a:t>Cần một tổ chức đấu giá có giấy phép để phiên hợp pháp, và một đối tác cộng đồng để tiếp cận hộ sản xuất. </a:t>
            </a:r>
            <a:pPr indent="0" marL="0">
              <a:lnSpc>
                <a:spcPts val="1800"/>
              </a:lnSpc>
              <a:buNone/>
            </a:pPr>
            <a:r>
              <a:rPr lang="en-US" sz="1200" b="1" dirty="0">
                <a:solidFill>
                  <a:srgbClr val="FF7A66"/>
                </a:solidFill>
                <a:latin typeface="Calibri" pitchFamily="34" charset="0"/>
                <a:ea typeface="Calibri" pitchFamily="34" charset="-122"/>
                <a:cs typeface="Calibri" pitchFamily="34" charset="-120"/>
              </a:rPr>
              <a:t>Đây là hai kết nối chúng tôi mong BTC hỗ trợ.</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219456"/>
          </a:xfrm>
          <a:prstGeom prst="rect">
            <a:avLst/>
          </a:prstGeom>
          <a:noFill/>
          <a:ln/>
        </p:spPr>
        <p:txBody>
          <a:bodyPr wrap="square" lIns="0" tIns="0" rIns="0" bIns="0" rtlCol="0" anchor="ctr"/>
          <a:lstStyle/>
          <a:p>
            <a:pPr indent="0" marL="0">
              <a:buNone/>
            </a:pPr>
            <a:r>
              <a:rPr lang="en-US" sz="1050" b="1" spc="160" kern="0" dirty="0">
                <a:solidFill>
                  <a:srgbClr val="2E8B5E"/>
                </a:solidFill>
                <a:latin typeface="Calibri" pitchFamily="34" charset="0"/>
                <a:ea typeface="Calibri" pitchFamily="34" charset="-122"/>
                <a:cs typeface="Calibri" pitchFamily="34" charset="-120"/>
              </a:rPr>
              <a:t>ĐO LƯỜNG TÁC ĐỘNG</a:t>
            </a:r>
            <a:endParaRPr lang="en-US" sz="1050" dirty="0"/>
          </a:p>
        </p:txBody>
      </p:sp>
      <p:sp>
        <p:nvSpPr>
          <p:cNvPr id="3" name="Text 1"/>
          <p:cNvSpPr txBox="1"/>
          <p:nvPr/>
        </p:nvSpPr>
        <p:spPr>
          <a:xfrm>
            <a:off x="502920" y="548640"/>
            <a:ext cx="8138160" cy="457200"/>
          </a:xfrm>
          <a:prstGeom prst="rect">
            <a:avLst/>
          </a:prstGeom>
          <a:noFill/>
          <a:ln/>
        </p:spPr>
        <p:txBody>
          <a:bodyPr wrap="square" lIns="0" tIns="0" rIns="0" bIns="0" rtlCol="0" anchor="ctr"/>
          <a:lstStyle/>
          <a:p>
            <a:pPr indent="0" marL="0">
              <a:lnSpc>
                <a:spcPts val="3000"/>
              </a:lnSpc>
              <a:buNone/>
            </a:pPr>
            <a:r>
              <a:rPr lang="en-US" sz="2400" b="1" dirty="0">
                <a:solidFill>
                  <a:srgbClr val="1A241F"/>
                </a:solidFill>
                <a:latin typeface="Cambria" pitchFamily="34" charset="0"/>
                <a:ea typeface="Cambria" pitchFamily="34" charset="-122"/>
                <a:cs typeface="Cambria" pitchFamily="34" charset="-120"/>
              </a:rPr>
              <a:t>Một chỉ số lõi, đo được bằng bằng chứng</a:t>
            </a:r>
            <a:endParaRPr lang="en-US" sz="2400" dirty="0"/>
          </a:p>
        </p:txBody>
      </p:sp>
      <p:sp>
        <p:nvSpPr>
          <p:cNvPr id="4" name="Text 2"/>
          <p:cNvSpPr txBox="1"/>
          <p:nvPr/>
        </p:nvSpPr>
        <p:spPr>
          <a:xfrm>
            <a:off x="502920" y="4718304"/>
            <a:ext cx="4572000" cy="219456"/>
          </a:xfrm>
          <a:prstGeom prst="rect">
            <a:avLst/>
          </a:prstGeom>
          <a:noFill/>
          <a:ln/>
        </p:spPr>
        <p:txBody>
          <a:bodyPr wrap="square" lIns="0" tIns="0" rIns="0" bIns="0" rtlCol="0" anchor="ctr"/>
          <a:lstStyle/>
          <a:p>
            <a:pPr indent="0" marL="0">
              <a:buNone/>
            </a:pPr>
            <a:r>
              <a:rPr lang="en-US" sz="900" dirty="0">
                <a:solidFill>
                  <a:srgbClr val="5F7168"/>
                </a:solidFill>
                <a:latin typeface="Calibri" pitchFamily="34" charset="0"/>
                <a:ea typeface="Calibri" pitchFamily="34" charset="-122"/>
                <a:cs typeface="Calibri" pitchFamily="34" charset="-120"/>
              </a:rPr>
              <a:t>Tài Sản Đấu Giá · RE:ACT 2026</a:t>
            </a:r>
            <a:endParaRPr lang="en-US" sz="900" dirty="0"/>
          </a:p>
        </p:txBody>
      </p:sp>
      <p:sp>
        <p:nvSpPr>
          <p:cNvPr id="5" name="Text 3"/>
          <p:cNvSpPr txBox="1"/>
          <p:nvPr/>
        </p:nvSpPr>
        <p:spPr>
          <a:xfrm>
            <a:off x="8092440" y="4718304"/>
            <a:ext cx="548640" cy="219456"/>
          </a:xfrm>
          <a:prstGeom prst="rect">
            <a:avLst/>
          </a:prstGeom>
          <a:noFill/>
          <a:ln/>
        </p:spPr>
        <p:txBody>
          <a:bodyPr wrap="square" lIns="0" tIns="0" rIns="0" bIns="0" rtlCol="0" anchor="ctr"/>
          <a:lstStyle/>
          <a:p>
            <a:pPr algn="r" indent="0" marL="0">
              <a:buNone/>
            </a:pPr>
            <a:r>
              <a:rPr lang="en-US" sz="900" dirty="0">
                <a:solidFill>
                  <a:srgbClr val="5F7168"/>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02920" y="1243584"/>
            <a:ext cx="8138160" cy="896112"/>
          </a:xfrm>
          <a:prstGeom prst="roundRect">
            <a:avLst>
              <a:gd name="adj" fmla="val 11224"/>
            </a:avLst>
          </a:prstGeom>
          <a:solidFill>
            <a:srgbClr val="0F3D2A"/>
          </a:solidFill>
          <a:ln w="12700">
            <a:solidFill>
              <a:srgbClr val="0F3D2A"/>
            </a:solidFill>
            <a:prstDash val="solid"/>
          </a:ln>
        </p:spPr>
      </p:sp>
      <p:sp>
        <p:nvSpPr>
          <p:cNvPr id="7" name="Text 5"/>
          <p:cNvSpPr txBox="1"/>
          <p:nvPr/>
        </p:nvSpPr>
        <p:spPr>
          <a:xfrm>
            <a:off x="777240" y="1408176"/>
            <a:ext cx="3108960" cy="219456"/>
          </a:xfrm>
          <a:prstGeom prst="rect">
            <a:avLst/>
          </a:prstGeom>
          <a:noFill/>
          <a:ln/>
        </p:spPr>
        <p:txBody>
          <a:bodyPr wrap="square" lIns="0" tIns="0" rIns="0" bIns="0" rtlCol="0" anchor="ctr"/>
          <a:lstStyle/>
          <a:p>
            <a:pPr indent="0" marL="0">
              <a:buNone/>
            </a:pPr>
            <a:r>
              <a:rPr lang="en-US" sz="1000" b="1" spc="140" kern="0" dirty="0">
                <a:solidFill>
                  <a:srgbClr val="FF7A66"/>
                </a:solidFill>
                <a:latin typeface="Calibri" pitchFamily="34" charset="0"/>
                <a:ea typeface="Calibri" pitchFamily="34" charset="-122"/>
                <a:cs typeface="Calibri" pitchFamily="34" charset="-120"/>
              </a:rPr>
              <a:t>CHỈ SỐ LÕI</a:t>
            </a:r>
            <a:endParaRPr lang="en-US" sz="1000" dirty="0"/>
          </a:p>
        </p:txBody>
      </p:sp>
      <p:sp>
        <p:nvSpPr>
          <p:cNvPr id="8" name="Text 6"/>
          <p:cNvSpPr txBox="1"/>
          <p:nvPr/>
        </p:nvSpPr>
        <p:spPr>
          <a:xfrm>
            <a:off x="777240" y="1627632"/>
            <a:ext cx="3108960" cy="34747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Chênh lệch giá</a:t>
            </a:r>
            <a:endParaRPr lang="en-US" sz="1900" dirty="0"/>
          </a:p>
        </p:txBody>
      </p:sp>
      <p:sp>
        <p:nvSpPr>
          <p:cNvPr id="9" name="Text 7"/>
          <p:cNvSpPr txBox="1"/>
          <p:nvPr/>
        </p:nvSpPr>
        <p:spPr>
          <a:xfrm>
            <a:off x="4160520" y="1426464"/>
            <a:ext cx="4206240" cy="585216"/>
          </a:xfrm>
          <a:prstGeom prst="rect">
            <a:avLst/>
          </a:prstGeom>
          <a:noFill/>
          <a:ln/>
        </p:spPr>
        <p:txBody>
          <a:bodyPr wrap="square" lIns="0" tIns="0" rIns="0" bIns="0" rtlCol="0" anchor="ctr"/>
          <a:lstStyle/>
          <a:p>
            <a:pPr indent="0" marL="0">
              <a:lnSpc>
                <a:spcPts val="1600"/>
              </a:lnSpc>
              <a:buNone/>
            </a:pPr>
            <a:r>
              <a:rPr lang="en-US" sz="1150" dirty="0">
                <a:solidFill>
                  <a:srgbClr val="C7DCCF"/>
                </a:solidFill>
                <a:latin typeface="Calibri" pitchFamily="34" charset="0"/>
                <a:ea typeface="Calibri" pitchFamily="34" charset="-122"/>
                <a:cs typeface="Calibri" pitchFamily="34" charset="-120"/>
              </a:rPr>
              <a:t>Giá bán qua đấu giá so với giá thương lái thu mua cùng loại sản phẩm. Đo trực tiếp, không phụ thuộc lời khai, và là thứ hộ sản xuất quan tâm nhất.</a:t>
            </a:r>
            <a:endParaRPr lang="en-US" sz="1150" dirty="0"/>
          </a:p>
        </p:txBody>
      </p:sp>
      <p:sp>
        <p:nvSpPr>
          <p:cNvPr id="10" name="Shape 8"/>
          <p:cNvSpPr/>
          <p:nvPr/>
        </p:nvSpPr>
        <p:spPr>
          <a:xfrm>
            <a:off x="502920" y="2395728"/>
            <a:ext cx="8138160" cy="402336"/>
          </a:xfrm>
          <a:prstGeom prst="rect">
            <a:avLst/>
          </a:prstGeom>
          <a:solidFill>
            <a:srgbClr val="F5F8F6"/>
          </a:solidFill>
          <a:ln w="12700">
            <a:solidFill>
              <a:srgbClr val="F5F8F6"/>
            </a:solidFill>
            <a:prstDash val="solid"/>
          </a:ln>
        </p:spPr>
      </p:sp>
      <p:sp>
        <p:nvSpPr>
          <p:cNvPr id="11" name="Text 9"/>
          <p:cNvSpPr txBox="1"/>
          <p:nvPr/>
        </p:nvSpPr>
        <p:spPr>
          <a:xfrm>
            <a:off x="722376" y="2395728"/>
            <a:ext cx="4937760" cy="402336"/>
          </a:xfrm>
          <a:prstGeom prst="rect">
            <a:avLst/>
          </a:prstGeom>
          <a:noFill/>
          <a:ln/>
        </p:spPr>
        <p:txBody>
          <a:bodyPr wrap="square" lIns="0" tIns="0" rIns="0" bIns="0" rtlCol="0" anchor="ctr"/>
          <a:lstStyle/>
          <a:p>
            <a:pPr indent="0" marL="0">
              <a:buNone/>
            </a:pPr>
            <a:r>
              <a:rPr lang="en-US" sz="1150" dirty="0">
                <a:solidFill>
                  <a:srgbClr val="1A241F"/>
                </a:solidFill>
                <a:latin typeface="Calibri" pitchFamily="34" charset="0"/>
                <a:ea typeface="Calibri" pitchFamily="34" charset="-122"/>
                <a:cs typeface="Calibri" pitchFamily="34" charset="-120"/>
              </a:rPr>
              <a:t>Tỷ lệ và giá trị người mua từ nước ngoài</a:t>
            </a:r>
            <a:endParaRPr lang="en-US" sz="1150" dirty="0"/>
          </a:p>
        </p:txBody>
      </p:sp>
      <p:sp>
        <p:nvSpPr>
          <p:cNvPr id="12" name="Text 10"/>
          <p:cNvSpPr txBox="1"/>
          <p:nvPr/>
        </p:nvSpPr>
        <p:spPr>
          <a:xfrm>
            <a:off x="5715000" y="2395728"/>
            <a:ext cx="2706624" cy="402336"/>
          </a:xfrm>
          <a:prstGeom prst="rect">
            <a:avLst/>
          </a:prstGeom>
          <a:noFill/>
          <a:ln/>
        </p:spPr>
        <p:txBody>
          <a:bodyPr wrap="square" lIns="0" tIns="0" rIns="0" bIns="0" rtlCol="0" anchor="ctr"/>
          <a:lstStyle/>
          <a:p>
            <a:pPr algn="r" indent="0" marL="0">
              <a:buNone/>
            </a:pPr>
            <a:r>
              <a:rPr lang="en-US" sz="1050" dirty="0">
                <a:solidFill>
                  <a:srgbClr val="5F7168"/>
                </a:solidFill>
                <a:latin typeface="Calibri" pitchFamily="34" charset="0"/>
                <a:ea typeface="Calibri" pitchFamily="34" charset="-122"/>
                <a:cs typeface="Calibri" pitchFamily="34" charset="-120"/>
              </a:rPr>
              <a:t>Hệ thống ghi nhận</a:t>
            </a:r>
            <a:endParaRPr lang="en-US" sz="1050" dirty="0"/>
          </a:p>
        </p:txBody>
      </p:sp>
      <p:sp>
        <p:nvSpPr>
          <p:cNvPr id="13" name="Text 11"/>
          <p:cNvSpPr txBox="1"/>
          <p:nvPr/>
        </p:nvSpPr>
        <p:spPr>
          <a:xfrm>
            <a:off x="722376" y="2798064"/>
            <a:ext cx="4937760" cy="402336"/>
          </a:xfrm>
          <a:prstGeom prst="rect">
            <a:avLst/>
          </a:prstGeom>
          <a:noFill/>
          <a:ln/>
        </p:spPr>
        <p:txBody>
          <a:bodyPr wrap="square" lIns="0" tIns="0" rIns="0" bIns="0" rtlCol="0" anchor="ctr"/>
          <a:lstStyle/>
          <a:p>
            <a:pPr indent="0" marL="0">
              <a:buNone/>
            </a:pPr>
            <a:r>
              <a:rPr lang="en-US" sz="1150" dirty="0">
                <a:solidFill>
                  <a:srgbClr val="1A241F"/>
                </a:solidFill>
                <a:latin typeface="Calibri" pitchFamily="34" charset="0"/>
                <a:ea typeface="Calibri" pitchFamily="34" charset="-122"/>
                <a:cs typeface="Calibri" pitchFamily="34" charset="-120"/>
              </a:rPr>
              <a:t>Thu nhập hộ theo tháng</a:t>
            </a:r>
            <a:endParaRPr lang="en-US" sz="1150" dirty="0"/>
          </a:p>
        </p:txBody>
      </p:sp>
      <p:sp>
        <p:nvSpPr>
          <p:cNvPr id="14" name="Text 12"/>
          <p:cNvSpPr txBox="1"/>
          <p:nvPr/>
        </p:nvSpPr>
        <p:spPr>
          <a:xfrm>
            <a:off x="5715000" y="2798064"/>
            <a:ext cx="2706624" cy="402336"/>
          </a:xfrm>
          <a:prstGeom prst="rect">
            <a:avLst/>
          </a:prstGeom>
          <a:noFill/>
          <a:ln/>
        </p:spPr>
        <p:txBody>
          <a:bodyPr wrap="square" lIns="0" tIns="0" rIns="0" bIns="0" rtlCol="0" anchor="ctr"/>
          <a:lstStyle/>
          <a:p>
            <a:pPr algn="r" indent="0" marL="0">
              <a:buNone/>
            </a:pPr>
            <a:r>
              <a:rPr lang="en-US" sz="1050" dirty="0">
                <a:solidFill>
                  <a:srgbClr val="5F7168"/>
                </a:solidFill>
                <a:latin typeface="Calibri" pitchFamily="34" charset="0"/>
                <a:ea typeface="Calibri" pitchFamily="34" charset="-122"/>
                <a:cs typeface="Calibri" pitchFamily="34" charset="-120"/>
              </a:rPr>
              <a:t>Hộ tự khai định kỳ</a:t>
            </a:r>
            <a:endParaRPr lang="en-US" sz="1050" dirty="0"/>
          </a:p>
        </p:txBody>
      </p:sp>
      <p:sp>
        <p:nvSpPr>
          <p:cNvPr id="15" name="Shape 13"/>
          <p:cNvSpPr/>
          <p:nvPr/>
        </p:nvSpPr>
        <p:spPr>
          <a:xfrm>
            <a:off x="502920" y="3200400"/>
            <a:ext cx="8138160" cy="402336"/>
          </a:xfrm>
          <a:prstGeom prst="rect">
            <a:avLst/>
          </a:prstGeom>
          <a:solidFill>
            <a:srgbClr val="F5F8F6"/>
          </a:solidFill>
          <a:ln w="12700">
            <a:solidFill>
              <a:srgbClr val="F5F8F6"/>
            </a:solidFill>
            <a:prstDash val="solid"/>
          </a:ln>
        </p:spPr>
      </p:sp>
      <p:sp>
        <p:nvSpPr>
          <p:cNvPr id="16" name="Text 14"/>
          <p:cNvSpPr txBox="1"/>
          <p:nvPr/>
        </p:nvSpPr>
        <p:spPr>
          <a:xfrm>
            <a:off x="722376" y="3200400"/>
            <a:ext cx="4937760" cy="402336"/>
          </a:xfrm>
          <a:prstGeom prst="rect">
            <a:avLst/>
          </a:prstGeom>
          <a:noFill/>
          <a:ln/>
        </p:spPr>
        <p:txBody>
          <a:bodyPr wrap="square" lIns="0" tIns="0" rIns="0" bIns="0" rtlCol="0" anchor="ctr"/>
          <a:lstStyle/>
          <a:p>
            <a:pPr indent="0" marL="0">
              <a:buNone/>
            </a:pPr>
            <a:r>
              <a:rPr lang="en-US" sz="1150" dirty="0">
                <a:solidFill>
                  <a:srgbClr val="1A241F"/>
                </a:solidFill>
                <a:latin typeface="Calibri" pitchFamily="34" charset="0"/>
                <a:ea typeface="Calibri" pitchFamily="34" charset="-122"/>
                <a:cs typeface="Calibri" pitchFamily="34" charset="-120"/>
              </a:rPr>
              <a:t>Số hộ có hồ sơ số · số sản phẩm có giá tham chiếu</a:t>
            </a:r>
            <a:endParaRPr lang="en-US" sz="1150" dirty="0"/>
          </a:p>
        </p:txBody>
      </p:sp>
      <p:sp>
        <p:nvSpPr>
          <p:cNvPr id="17" name="Text 15"/>
          <p:cNvSpPr txBox="1"/>
          <p:nvPr/>
        </p:nvSpPr>
        <p:spPr>
          <a:xfrm>
            <a:off x="5715000" y="3200400"/>
            <a:ext cx="2706624" cy="402336"/>
          </a:xfrm>
          <a:prstGeom prst="rect">
            <a:avLst/>
          </a:prstGeom>
          <a:noFill/>
          <a:ln/>
        </p:spPr>
        <p:txBody>
          <a:bodyPr wrap="square" lIns="0" tIns="0" rIns="0" bIns="0" rtlCol="0" anchor="ctr"/>
          <a:lstStyle/>
          <a:p>
            <a:pPr algn="r" indent="0" marL="0">
              <a:buNone/>
            </a:pPr>
            <a:r>
              <a:rPr lang="en-US" sz="1050" dirty="0">
                <a:solidFill>
                  <a:srgbClr val="5F7168"/>
                </a:solidFill>
                <a:latin typeface="Calibri" pitchFamily="34" charset="0"/>
                <a:ea typeface="Calibri" pitchFamily="34" charset="-122"/>
                <a:cs typeface="Calibri" pitchFamily="34" charset="-120"/>
              </a:rPr>
              <a:t>Hệ thống ghi nhận</a:t>
            </a:r>
            <a:endParaRPr lang="en-US" sz="1050" dirty="0"/>
          </a:p>
        </p:txBody>
      </p:sp>
      <p:sp>
        <p:nvSpPr>
          <p:cNvPr id="18" name="Text 16"/>
          <p:cNvSpPr txBox="1"/>
          <p:nvPr/>
        </p:nvSpPr>
        <p:spPr>
          <a:xfrm>
            <a:off x="722376" y="3602736"/>
            <a:ext cx="4937760" cy="402336"/>
          </a:xfrm>
          <a:prstGeom prst="rect">
            <a:avLst/>
          </a:prstGeom>
          <a:noFill/>
          <a:ln/>
        </p:spPr>
        <p:txBody>
          <a:bodyPr wrap="square" lIns="0" tIns="0" rIns="0" bIns="0" rtlCol="0" anchor="ctr"/>
          <a:lstStyle/>
          <a:p>
            <a:pPr indent="0" marL="0">
              <a:buNone/>
            </a:pPr>
            <a:r>
              <a:rPr lang="en-US" sz="1150" dirty="0">
                <a:solidFill>
                  <a:srgbClr val="1A241F"/>
                </a:solidFill>
                <a:latin typeface="Calibri" pitchFamily="34" charset="0"/>
                <a:ea typeface="Calibri" pitchFamily="34" charset="-122"/>
                <a:cs typeface="Calibri" pitchFamily="34" charset="-120"/>
              </a:rPr>
              <a:t>Số người dưới 30 tuổi tham gia sản xuất</a:t>
            </a:r>
            <a:endParaRPr lang="en-US" sz="1150" dirty="0"/>
          </a:p>
        </p:txBody>
      </p:sp>
      <p:sp>
        <p:nvSpPr>
          <p:cNvPr id="19" name="Text 17"/>
          <p:cNvSpPr txBox="1"/>
          <p:nvPr/>
        </p:nvSpPr>
        <p:spPr>
          <a:xfrm>
            <a:off x="5715000" y="3602736"/>
            <a:ext cx="2706624" cy="402336"/>
          </a:xfrm>
          <a:prstGeom prst="rect">
            <a:avLst/>
          </a:prstGeom>
          <a:noFill/>
          <a:ln/>
        </p:spPr>
        <p:txBody>
          <a:bodyPr wrap="square" lIns="0" tIns="0" rIns="0" bIns="0" rtlCol="0" anchor="ctr"/>
          <a:lstStyle/>
          <a:p>
            <a:pPr algn="r" indent="0" marL="0">
              <a:buNone/>
            </a:pPr>
            <a:r>
              <a:rPr lang="en-US" sz="1050" dirty="0">
                <a:solidFill>
                  <a:srgbClr val="5F7168"/>
                </a:solidFill>
                <a:latin typeface="Calibri" pitchFamily="34" charset="0"/>
                <a:ea typeface="Calibri" pitchFamily="34" charset="-122"/>
                <a:cs typeface="Calibri" pitchFamily="34" charset="-120"/>
              </a:rPr>
              <a:t>Chỉ báo sớm về kế tục nghề</a:t>
            </a:r>
            <a:endParaRPr lang="en-US" sz="1050" dirty="0"/>
          </a:p>
        </p:txBody>
      </p:sp>
      <p:sp>
        <p:nvSpPr>
          <p:cNvPr id="20" name="Shape 18"/>
          <p:cNvSpPr/>
          <p:nvPr/>
        </p:nvSpPr>
        <p:spPr>
          <a:xfrm>
            <a:off x="502920" y="4005072"/>
            <a:ext cx="8138160" cy="402336"/>
          </a:xfrm>
          <a:prstGeom prst="rect">
            <a:avLst/>
          </a:prstGeom>
          <a:solidFill>
            <a:srgbClr val="F5F8F6"/>
          </a:solidFill>
          <a:ln w="12700">
            <a:solidFill>
              <a:srgbClr val="F5F8F6"/>
            </a:solidFill>
            <a:prstDash val="solid"/>
          </a:ln>
        </p:spPr>
      </p:sp>
      <p:sp>
        <p:nvSpPr>
          <p:cNvPr id="21" name="Text 19"/>
          <p:cNvSpPr txBox="1"/>
          <p:nvPr/>
        </p:nvSpPr>
        <p:spPr>
          <a:xfrm>
            <a:off x="722376" y="4005072"/>
            <a:ext cx="4937760" cy="402336"/>
          </a:xfrm>
          <a:prstGeom prst="rect">
            <a:avLst/>
          </a:prstGeom>
          <a:noFill/>
          <a:ln/>
        </p:spPr>
        <p:txBody>
          <a:bodyPr wrap="square" lIns="0" tIns="0" rIns="0" bIns="0" rtlCol="0" anchor="ctr"/>
          <a:lstStyle/>
          <a:p>
            <a:pPr indent="0" marL="0">
              <a:buNone/>
            </a:pPr>
            <a:r>
              <a:rPr lang="en-US" sz="1150" dirty="0">
                <a:solidFill>
                  <a:srgbClr val="1A241F"/>
                </a:solidFill>
                <a:latin typeface="Calibri" pitchFamily="34" charset="0"/>
                <a:ea typeface="Calibri" pitchFamily="34" charset="-122"/>
                <a:cs typeface="Calibri" pitchFamily="34" charset="-120"/>
              </a:rPr>
              <a:t>Thay đổi trong ý định giữ nghề</a:t>
            </a:r>
            <a:endParaRPr lang="en-US" sz="1150" dirty="0"/>
          </a:p>
        </p:txBody>
      </p:sp>
      <p:sp>
        <p:nvSpPr>
          <p:cNvPr id="22" name="Text 20"/>
          <p:cNvSpPr txBox="1"/>
          <p:nvPr/>
        </p:nvSpPr>
        <p:spPr>
          <a:xfrm>
            <a:off x="5715000" y="4005072"/>
            <a:ext cx="2706624" cy="402336"/>
          </a:xfrm>
          <a:prstGeom prst="rect">
            <a:avLst/>
          </a:prstGeom>
          <a:noFill/>
          <a:ln/>
        </p:spPr>
        <p:txBody>
          <a:bodyPr wrap="square" lIns="0" tIns="0" rIns="0" bIns="0" rtlCol="0" anchor="ctr"/>
          <a:lstStyle/>
          <a:p>
            <a:pPr algn="r" indent="0" marL="0">
              <a:buNone/>
            </a:pPr>
            <a:r>
              <a:rPr lang="en-US" sz="1050" dirty="0">
                <a:solidFill>
                  <a:srgbClr val="5F7168"/>
                </a:solidFill>
                <a:latin typeface="Calibri" pitchFamily="34" charset="0"/>
                <a:ea typeface="Calibri" pitchFamily="34" charset="-122"/>
                <a:cs typeface="Calibri" pitchFamily="34" charset="-120"/>
              </a:rPr>
              <a:t>Phỏng vấn sâu 8–10 hộ, ba đợt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8138160" cy="219456"/>
          </a:xfrm>
          <a:prstGeom prst="rect">
            <a:avLst/>
          </a:prstGeom>
          <a:noFill/>
          <a:ln/>
        </p:spPr>
        <p:txBody>
          <a:bodyPr wrap="square" lIns="0" tIns="0" rIns="0" bIns="0" rtlCol="0" anchor="ctr"/>
          <a:lstStyle/>
          <a:p>
            <a:pPr indent="0" marL="0">
              <a:buNone/>
            </a:pPr>
            <a:r>
              <a:rPr lang="en-US" sz="1050" b="1" spc="160" kern="0" dirty="0">
                <a:solidFill>
                  <a:srgbClr val="2E8B5E"/>
                </a:solidFill>
                <a:latin typeface="Calibri" pitchFamily="34" charset="0"/>
                <a:ea typeface="Calibri" pitchFamily="34" charset="-122"/>
                <a:cs typeface="Calibri" pitchFamily="34" charset="-120"/>
              </a:rPr>
              <a:t>ĐỘI NGŨ</a:t>
            </a:r>
            <a:endParaRPr lang="en-US" sz="1050" dirty="0"/>
          </a:p>
        </p:txBody>
      </p:sp>
      <p:sp>
        <p:nvSpPr>
          <p:cNvPr id="3" name="Text 1"/>
          <p:cNvSpPr txBox="1"/>
          <p:nvPr/>
        </p:nvSpPr>
        <p:spPr>
          <a:xfrm>
            <a:off x="502920" y="548640"/>
            <a:ext cx="8138160" cy="457200"/>
          </a:xfrm>
          <a:prstGeom prst="rect">
            <a:avLst/>
          </a:prstGeom>
          <a:noFill/>
          <a:ln/>
        </p:spPr>
        <p:txBody>
          <a:bodyPr wrap="square" lIns="0" tIns="0" rIns="0" bIns="0" rtlCol="0" anchor="ctr"/>
          <a:lstStyle/>
          <a:p>
            <a:pPr indent="0" marL="0">
              <a:lnSpc>
                <a:spcPts val="3000"/>
              </a:lnSpc>
              <a:buNone/>
            </a:pPr>
            <a:r>
              <a:rPr lang="en-US" sz="2400" b="1" dirty="0">
                <a:solidFill>
                  <a:srgbClr val="1A241F"/>
                </a:solidFill>
                <a:latin typeface="Cambria" pitchFamily="34" charset="0"/>
                <a:ea typeface="Cambria" pitchFamily="34" charset="-122"/>
                <a:cs typeface="Cambria" pitchFamily="34" charset="-120"/>
              </a:rPr>
              <a:t>Nhóm kỹ thuật có sản phẩm chạy thật</a:t>
            </a:r>
            <a:endParaRPr lang="en-US" sz="2400" dirty="0"/>
          </a:p>
        </p:txBody>
      </p:sp>
      <p:sp>
        <p:nvSpPr>
          <p:cNvPr id="4" name="Text 2"/>
          <p:cNvSpPr txBox="1"/>
          <p:nvPr/>
        </p:nvSpPr>
        <p:spPr>
          <a:xfrm>
            <a:off x="502920" y="4718304"/>
            <a:ext cx="4572000" cy="219456"/>
          </a:xfrm>
          <a:prstGeom prst="rect">
            <a:avLst/>
          </a:prstGeom>
          <a:noFill/>
          <a:ln/>
        </p:spPr>
        <p:txBody>
          <a:bodyPr wrap="square" lIns="0" tIns="0" rIns="0" bIns="0" rtlCol="0" anchor="ctr"/>
          <a:lstStyle/>
          <a:p>
            <a:pPr indent="0" marL="0">
              <a:buNone/>
            </a:pPr>
            <a:r>
              <a:rPr lang="en-US" sz="900" dirty="0">
                <a:solidFill>
                  <a:srgbClr val="5F7168"/>
                </a:solidFill>
                <a:latin typeface="Calibri" pitchFamily="34" charset="0"/>
                <a:ea typeface="Calibri" pitchFamily="34" charset="-122"/>
                <a:cs typeface="Calibri" pitchFamily="34" charset="-120"/>
              </a:rPr>
              <a:t>Tài Sản Đấu Giá · RE:ACT 2026</a:t>
            </a:r>
            <a:endParaRPr lang="en-US" sz="900" dirty="0"/>
          </a:p>
        </p:txBody>
      </p:sp>
      <p:sp>
        <p:nvSpPr>
          <p:cNvPr id="5" name="Text 3"/>
          <p:cNvSpPr txBox="1"/>
          <p:nvPr/>
        </p:nvSpPr>
        <p:spPr>
          <a:xfrm>
            <a:off x="8092440" y="4718304"/>
            <a:ext cx="548640" cy="219456"/>
          </a:xfrm>
          <a:prstGeom prst="rect">
            <a:avLst/>
          </a:prstGeom>
          <a:noFill/>
          <a:ln/>
        </p:spPr>
        <p:txBody>
          <a:bodyPr wrap="square" lIns="0" tIns="0" rIns="0" bIns="0" rtlCol="0" anchor="ctr"/>
          <a:lstStyle/>
          <a:p>
            <a:pPr algn="r" indent="0" marL="0">
              <a:buNone/>
            </a:pPr>
            <a:r>
              <a:rPr lang="en-US" sz="900" dirty="0">
                <a:solidFill>
                  <a:srgbClr val="5F7168"/>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02920" y="1243584"/>
            <a:ext cx="8138160" cy="914400"/>
          </a:xfrm>
          <a:prstGeom prst="roundRect">
            <a:avLst>
              <a:gd name="adj" fmla="val 11000"/>
            </a:avLst>
          </a:prstGeom>
          <a:solidFill>
            <a:srgbClr val="EEF3F0"/>
          </a:solidFill>
          <a:ln w="9525">
            <a:solidFill>
              <a:srgbClr val="D8E4DC"/>
            </a:solidFill>
            <a:prstDash val="solid"/>
          </a:ln>
        </p:spPr>
      </p:sp>
      <p:sp>
        <p:nvSpPr>
          <p:cNvPr id="7" name="Text 5"/>
          <p:cNvSpPr txBox="1"/>
          <p:nvPr/>
        </p:nvSpPr>
        <p:spPr>
          <a:xfrm>
            <a:off x="777240" y="1408176"/>
            <a:ext cx="7589520" cy="310896"/>
          </a:xfrm>
          <a:prstGeom prst="rect">
            <a:avLst/>
          </a:prstGeom>
          <a:noFill/>
          <a:ln/>
        </p:spPr>
        <p:txBody>
          <a:bodyPr wrap="square" lIns="0" tIns="0" rIns="0" bIns="0" rtlCol="0" anchor="ctr"/>
          <a:lstStyle/>
          <a:p>
            <a:pPr indent="0" marL="0">
              <a:buNone/>
            </a:pPr>
            <a:r>
              <a:rPr lang="en-US" sz="1700" b="1" dirty="0">
                <a:solidFill>
                  <a:srgbClr val="1A241F"/>
                </a:solidFill>
                <a:latin typeface="Cambria" pitchFamily="34" charset="0"/>
                <a:ea typeface="Cambria" pitchFamily="34" charset="-122"/>
                <a:cs typeface="Cambria" pitchFamily="34" charset="-120"/>
              </a:rPr>
              <a:t>Công ty TNHH Giải pháp Xã hội SS Corp Việt Nam</a:t>
            </a:r>
            <a:endParaRPr lang="en-US" sz="1700" dirty="0"/>
          </a:p>
        </p:txBody>
      </p:sp>
      <p:sp>
        <p:nvSpPr>
          <p:cNvPr id="8" name="Text 6"/>
          <p:cNvSpPr txBox="1"/>
          <p:nvPr/>
        </p:nvSpPr>
        <p:spPr>
          <a:xfrm>
            <a:off x="777240" y="1737360"/>
            <a:ext cx="7589520" cy="274320"/>
          </a:xfrm>
          <a:prstGeom prst="rect">
            <a:avLst/>
          </a:prstGeom>
          <a:noFill/>
          <a:ln/>
        </p:spPr>
        <p:txBody>
          <a:bodyPr wrap="square" lIns="0" tIns="0" rIns="0" bIns="0" rtlCol="0" anchor="ctr"/>
          <a:lstStyle/>
          <a:p>
            <a:pPr indent="0" marL="0">
              <a:buNone/>
            </a:pPr>
            <a:r>
              <a:rPr lang="en-US" sz="1150" dirty="0">
                <a:solidFill>
                  <a:srgbClr val="5F7168"/>
                </a:solidFill>
                <a:latin typeface="Calibri" pitchFamily="34" charset="0"/>
                <a:ea typeface="Calibri" pitchFamily="34" charset="-122"/>
                <a:cs typeface="Calibri" pitchFamily="34" charset="-120"/>
              </a:rPr>
              <a:t>Pháp nhân thương mại · Vận hành taisandaugia.vn · Đồng hành cùng DVL Auction, tổ chức đấu giá có giấy phép</a:t>
            </a:r>
            <a:endParaRPr lang="en-US" sz="1150" dirty="0"/>
          </a:p>
        </p:txBody>
      </p:sp>
      <p:sp>
        <p:nvSpPr>
          <p:cNvPr id="9" name="Shape 7"/>
          <p:cNvSpPr/>
          <p:nvPr/>
        </p:nvSpPr>
        <p:spPr>
          <a:xfrm>
            <a:off x="502920" y="2414016"/>
            <a:ext cx="2529840" cy="1298448"/>
          </a:xfrm>
          <a:prstGeom prst="roundRect">
            <a:avLst>
              <a:gd name="adj" fmla="val 7746"/>
            </a:avLst>
          </a:prstGeom>
          <a:solidFill>
            <a:srgbClr val="FFFFFF"/>
          </a:solidFill>
          <a:ln w="12700">
            <a:solidFill>
              <a:srgbClr val="DCE5E0"/>
            </a:solidFill>
            <a:prstDash val="solid"/>
          </a:ln>
        </p:spPr>
      </p:sp>
      <p:sp>
        <p:nvSpPr>
          <p:cNvPr id="10" name="Shape 8"/>
          <p:cNvSpPr/>
          <p:nvPr/>
        </p:nvSpPr>
        <p:spPr>
          <a:xfrm>
            <a:off x="740664" y="2615184"/>
            <a:ext cx="201168" cy="201168"/>
          </a:xfrm>
          <a:prstGeom prst="ellipse">
            <a:avLst/>
          </a:prstGeom>
          <a:solidFill>
            <a:srgbClr val="1B6A45"/>
          </a:solidFill>
          <a:ln w="12700">
            <a:solidFill>
              <a:srgbClr val="1B6A45"/>
            </a:solidFill>
            <a:prstDash val="solid"/>
          </a:ln>
        </p:spPr>
      </p:sp>
      <p:sp>
        <p:nvSpPr>
          <p:cNvPr id="11" name="Text 9"/>
          <p:cNvSpPr txBox="1"/>
          <p:nvPr/>
        </p:nvSpPr>
        <p:spPr>
          <a:xfrm>
            <a:off x="1051560" y="2560320"/>
            <a:ext cx="1743456" cy="292608"/>
          </a:xfrm>
          <a:prstGeom prst="rect">
            <a:avLst/>
          </a:prstGeom>
          <a:noFill/>
          <a:ln/>
        </p:spPr>
        <p:txBody>
          <a:bodyPr wrap="square" lIns="0" tIns="0" rIns="0" bIns="0" rtlCol="0" anchor="ctr"/>
          <a:lstStyle/>
          <a:p>
            <a:pPr indent="0" marL="0">
              <a:buNone/>
            </a:pPr>
            <a:r>
              <a:rPr lang="en-US" sz="1500" b="1" dirty="0">
                <a:solidFill>
                  <a:srgbClr val="1A241F"/>
                </a:solidFill>
                <a:latin typeface="Cambria" pitchFamily="34" charset="0"/>
                <a:ea typeface="Cambria" pitchFamily="34" charset="-122"/>
                <a:cs typeface="Cambria" pitchFamily="34" charset="-120"/>
              </a:rPr>
              <a:t>Phạm Vũ Hiệp</a:t>
            </a:r>
            <a:endParaRPr lang="en-US" sz="1500" dirty="0"/>
          </a:p>
        </p:txBody>
      </p:sp>
      <p:sp>
        <p:nvSpPr>
          <p:cNvPr id="12" name="Text 10"/>
          <p:cNvSpPr txBox="1"/>
          <p:nvPr/>
        </p:nvSpPr>
        <p:spPr>
          <a:xfrm>
            <a:off x="1051560" y="2834640"/>
            <a:ext cx="1743456" cy="237744"/>
          </a:xfrm>
          <a:prstGeom prst="rect">
            <a:avLst/>
          </a:prstGeom>
          <a:noFill/>
          <a:ln/>
        </p:spPr>
        <p:txBody>
          <a:bodyPr wrap="square" lIns="0" tIns="0" rIns="0" bIns="0" rtlCol="0" anchor="ctr"/>
          <a:lstStyle/>
          <a:p>
            <a:pPr indent="0" marL="0">
              <a:buNone/>
            </a:pPr>
            <a:r>
              <a:rPr lang="en-US" sz="1150" b="1" dirty="0">
                <a:solidFill>
                  <a:srgbClr val="2E8B5E"/>
                </a:solidFill>
                <a:latin typeface="Calibri" pitchFamily="34" charset="0"/>
                <a:ea typeface="Calibri" pitchFamily="34" charset="-122"/>
                <a:cs typeface="Calibri" pitchFamily="34" charset="-120"/>
              </a:rPr>
              <a:t>Giám đốc dự án</a:t>
            </a:r>
            <a:endParaRPr lang="en-US" sz="1150" dirty="0"/>
          </a:p>
        </p:txBody>
      </p:sp>
      <p:sp>
        <p:nvSpPr>
          <p:cNvPr id="13" name="Text 11"/>
          <p:cNvSpPr txBox="1"/>
          <p:nvPr/>
        </p:nvSpPr>
        <p:spPr>
          <a:xfrm>
            <a:off x="740664" y="3163824"/>
            <a:ext cx="2054352" cy="457200"/>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Kiến trúc hệ thống &amp; vận hành</a:t>
            </a:r>
            <a:endParaRPr lang="en-US" sz="1150" dirty="0"/>
          </a:p>
        </p:txBody>
      </p:sp>
      <p:sp>
        <p:nvSpPr>
          <p:cNvPr id="14" name="Shape 12"/>
          <p:cNvSpPr/>
          <p:nvPr/>
        </p:nvSpPr>
        <p:spPr>
          <a:xfrm>
            <a:off x="3307080" y="2414016"/>
            <a:ext cx="2529840" cy="1298448"/>
          </a:xfrm>
          <a:prstGeom prst="roundRect">
            <a:avLst>
              <a:gd name="adj" fmla="val 7746"/>
            </a:avLst>
          </a:prstGeom>
          <a:solidFill>
            <a:srgbClr val="FFFFFF"/>
          </a:solidFill>
          <a:ln w="12700">
            <a:solidFill>
              <a:srgbClr val="DCE5E0"/>
            </a:solidFill>
            <a:prstDash val="solid"/>
          </a:ln>
        </p:spPr>
      </p:sp>
      <p:sp>
        <p:nvSpPr>
          <p:cNvPr id="15" name="Shape 13"/>
          <p:cNvSpPr/>
          <p:nvPr/>
        </p:nvSpPr>
        <p:spPr>
          <a:xfrm>
            <a:off x="3544824" y="2615184"/>
            <a:ext cx="201168" cy="201168"/>
          </a:xfrm>
          <a:prstGeom prst="ellipse">
            <a:avLst/>
          </a:prstGeom>
          <a:solidFill>
            <a:srgbClr val="1B6A45"/>
          </a:solidFill>
          <a:ln w="12700">
            <a:solidFill>
              <a:srgbClr val="1B6A45"/>
            </a:solidFill>
            <a:prstDash val="solid"/>
          </a:ln>
        </p:spPr>
      </p:sp>
      <p:sp>
        <p:nvSpPr>
          <p:cNvPr id="16" name="Text 14"/>
          <p:cNvSpPr txBox="1"/>
          <p:nvPr/>
        </p:nvSpPr>
        <p:spPr>
          <a:xfrm>
            <a:off x="3855720" y="2560320"/>
            <a:ext cx="1743456" cy="292608"/>
          </a:xfrm>
          <a:prstGeom prst="rect">
            <a:avLst/>
          </a:prstGeom>
          <a:noFill/>
          <a:ln/>
        </p:spPr>
        <p:txBody>
          <a:bodyPr wrap="square" lIns="0" tIns="0" rIns="0" bIns="0" rtlCol="0" anchor="ctr"/>
          <a:lstStyle/>
          <a:p>
            <a:pPr indent="0" marL="0">
              <a:buNone/>
            </a:pPr>
            <a:r>
              <a:rPr lang="en-US" sz="1500" b="1" dirty="0">
                <a:solidFill>
                  <a:srgbClr val="1A241F"/>
                </a:solidFill>
                <a:latin typeface="Cambria" pitchFamily="34" charset="0"/>
                <a:ea typeface="Cambria" pitchFamily="34" charset="-122"/>
                <a:cs typeface="Cambria" pitchFamily="34" charset="-120"/>
              </a:rPr>
              <a:t>[Họ tên]</a:t>
            </a:r>
            <a:endParaRPr lang="en-US" sz="1500" dirty="0"/>
          </a:p>
        </p:txBody>
      </p:sp>
      <p:sp>
        <p:nvSpPr>
          <p:cNvPr id="17" name="Text 15"/>
          <p:cNvSpPr txBox="1"/>
          <p:nvPr/>
        </p:nvSpPr>
        <p:spPr>
          <a:xfrm>
            <a:off x="3855720" y="2834640"/>
            <a:ext cx="1743456" cy="237744"/>
          </a:xfrm>
          <a:prstGeom prst="rect">
            <a:avLst/>
          </a:prstGeom>
          <a:noFill/>
          <a:ln/>
        </p:spPr>
        <p:txBody>
          <a:bodyPr wrap="square" lIns="0" tIns="0" rIns="0" bIns="0" rtlCol="0" anchor="ctr"/>
          <a:lstStyle/>
          <a:p>
            <a:pPr indent="0" marL="0">
              <a:buNone/>
            </a:pPr>
            <a:r>
              <a:rPr lang="en-US" sz="1150" b="1" dirty="0">
                <a:solidFill>
                  <a:srgbClr val="2E8B5E"/>
                </a:solidFill>
                <a:latin typeface="Calibri" pitchFamily="34" charset="0"/>
                <a:ea typeface="Calibri" pitchFamily="34" charset="-122"/>
                <a:cs typeface="Calibri" pitchFamily="34" charset="-120"/>
              </a:rPr>
              <a:t>Trưởng Sản phẩm / CTO</a:t>
            </a:r>
            <a:endParaRPr lang="en-US" sz="1150" dirty="0"/>
          </a:p>
        </p:txBody>
      </p:sp>
      <p:sp>
        <p:nvSpPr>
          <p:cNvPr id="18" name="Text 16"/>
          <p:cNvSpPr txBox="1"/>
          <p:nvPr/>
        </p:nvSpPr>
        <p:spPr>
          <a:xfrm>
            <a:off x="3544824" y="3163824"/>
            <a:ext cx="2054352" cy="457200"/>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Công nghệ &amp; phát triển sản phẩm</a:t>
            </a:r>
            <a:endParaRPr lang="en-US" sz="1150" dirty="0"/>
          </a:p>
        </p:txBody>
      </p:sp>
      <p:sp>
        <p:nvSpPr>
          <p:cNvPr id="19" name="Shape 17"/>
          <p:cNvSpPr/>
          <p:nvPr/>
        </p:nvSpPr>
        <p:spPr>
          <a:xfrm>
            <a:off x="6111240" y="2414016"/>
            <a:ext cx="2529840" cy="1298448"/>
          </a:xfrm>
          <a:prstGeom prst="roundRect">
            <a:avLst>
              <a:gd name="adj" fmla="val 7746"/>
            </a:avLst>
          </a:prstGeom>
          <a:solidFill>
            <a:srgbClr val="FFFFFF"/>
          </a:solidFill>
          <a:ln w="12700">
            <a:solidFill>
              <a:srgbClr val="DCE5E0"/>
            </a:solidFill>
            <a:prstDash val="solid"/>
          </a:ln>
        </p:spPr>
      </p:sp>
      <p:sp>
        <p:nvSpPr>
          <p:cNvPr id="20" name="Shape 18"/>
          <p:cNvSpPr/>
          <p:nvPr/>
        </p:nvSpPr>
        <p:spPr>
          <a:xfrm>
            <a:off x="6348984" y="2615184"/>
            <a:ext cx="201168" cy="201168"/>
          </a:xfrm>
          <a:prstGeom prst="ellipse">
            <a:avLst/>
          </a:prstGeom>
          <a:solidFill>
            <a:srgbClr val="1B6A45"/>
          </a:solidFill>
          <a:ln w="12700">
            <a:solidFill>
              <a:srgbClr val="1B6A45"/>
            </a:solidFill>
            <a:prstDash val="solid"/>
          </a:ln>
        </p:spPr>
      </p:sp>
      <p:sp>
        <p:nvSpPr>
          <p:cNvPr id="21" name="Text 19"/>
          <p:cNvSpPr txBox="1"/>
          <p:nvPr/>
        </p:nvSpPr>
        <p:spPr>
          <a:xfrm>
            <a:off x="6659880" y="2560320"/>
            <a:ext cx="1743456" cy="292608"/>
          </a:xfrm>
          <a:prstGeom prst="rect">
            <a:avLst/>
          </a:prstGeom>
          <a:noFill/>
          <a:ln/>
        </p:spPr>
        <p:txBody>
          <a:bodyPr wrap="square" lIns="0" tIns="0" rIns="0" bIns="0" rtlCol="0" anchor="ctr"/>
          <a:lstStyle/>
          <a:p>
            <a:pPr indent="0" marL="0">
              <a:buNone/>
            </a:pPr>
            <a:r>
              <a:rPr lang="en-US" sz="1500" b="1" dirty="0">
                <a:solidFill>
                  <a:srgbClr val="1A241F"/>
                </a:solidFill>
                <a:latin typeface="Cambria" pitchFamily="34" charset="0"/>
                <a:ea typeface="Cambria" pitchFamily="34" charset="-122"/>
                <a:cs typeface="Cambria" pitchFamily="34" charset="-120"/>
              </a:rPr>
              <a:t>[Họ tên]</a:t>
            </a:r>
            <a:endParaRPr lang="en-US" sz="1500" dirty="0"/>
          </a:p>
        </p:txBody>
      </p:sp>
      <p:sp>
        <p:nvSpPr>
          <p:cNvPr id="22" name="Text 20"/>
          <p:cNvSpPr txBox="1"/>
          <p:nvPr/>
        </p:nvSpPr>
        <p:spPr>
          <a:xfrm>
            <a:off x="6659880" y="2834640"/>
            <a:ext cx="1743456" cy="237744"/>
          </a:xfrm>
          <a:prstGeom prst="rect">
            <a:avLst/>
          </a:prstGeom>
          <a:noFill/>
          <a:ln/>
        </p:spPr>
        <p:txBody>
          <a:bodyPr wrap="square" lIns="0" tIns="0" rIns="0" bIns="0" rtlCol="0" anchor="ctr"/>
          <a:lstStyle/>
          <a:p>
            <a:pPr indent="0" marL="0">
              <a:buNone/>
            </a:pPr>
            <a:r>
              <a:rPr lang="en-US" sz="1150" b="1" dirty="0">
                <a:solidFill>
                  <a:srgbClr val="2E8B5E"/>
                </a:solidFill>
                <a:latin typeface="Calibri" pitchFamily="34" charset="0"/>
                <a:ea typeface="Calibri" pitchFamily="34" charset="-122"/>
                <a:cs typeface="Calibri" pitchFamily="34" charset="-120"/>
              </a:rPr>
              <a:t>Trưởng Dữ liệu</a:t>
            </a:r>
            <a:endParaRPr lang="en-US" sz="1150" dirty="0"/>
          </a:p>
        </p:txBody>
      </p:sp>
      <p:sp>
        <p:nvSpPr>
          <p:cNvPr id="23" name="Text 21"/>
          <p:cNvSpPr txBox="1"/>
          <p:nvPr/>
        </p:nvSpPr>
        <p:spPr>
          <a:xfrm>
            <a:off x="6348984" y="3163824"/>
            <a:ext cx="2054352" cy="457200"/>
          </a:xfrm>
          <a:prstGeom prst="rect">
            <a:avLst/>
          </a:prstGeom>
          <a:noFill/>
          <a:ln/>
        </p:spPr>
        <p:txBody>
          <a:bodyPr wrap="square" lIns="0" tIns="0" rIns="0" bIns="0" rtlCol="0" anchor="ctr"/>
          <a:lstStyle/>
          <a:p>
            <a:pPr indent="0" marL="0">
              <a:lnSpc>
                <a:spcPts val="1600"/>
              </a:lnSpc>
              <a:buNone/>
            </a:pPr>
            <a:r>
              <a:rPr lang="en-US" sz="1150" dirty="0">
                <a:solidFill>
                  <a:srgbClr val="5F7168"/>
                </a:solidFill>
                <a:latin typeface="Calibri" pitchFamily="34" charset="0"/>
                <a:ea typeface="Calibri" pitchFamily="34" charset="-122"/>
                <a:cs typeface="Calibri" pitchFamily="34" charset="-120"/>
              </a:rPr>
              <a:t>Chuẩn hóa dữ liệu &amp; phân tích</a:t>
            </a:r>
            <a:endParaRPr lang="en-US" sz="1150" dirty="0"/>
          </a:p>
        </p:txBody>
      </p:sp>
      <p:sp>
        <p:nvSpPr>
          <p:cNvPr id="24" name="Text 22"/>
          <p:cNvSpPr txBox="1"/>
          <p:nvPr/>
        </p:nvSpPr>
        <p:spPr>
          <a:xfrm>
            <a:off x="502920" y="3877056"/>
            <a:ext cx="8138160" cy="457200"/>
          </a:xfrm>
          <a:prstGeom prst="rect">
            <a:avLst/>
          </a:prstGeom>
          <a:noFill/>
          <a:ln/>
        </p:spPr>
        <p:txBody>
          <a:bodyPr wrap="square" lIns="0" tIns="0" rIns="0" bIns="0" rtlCol="0" anchor="ctr"/>
          <a:lstStyle/>
          <a:p>
            <a:pPr indent="0" marL="0">
              <a:lnSpc>
                <a:spcPts val="1700"/>
              </a:lnSpc>
              <a:buNone/>
            </a:pPr>
            <a:r>
              <a:rPr lang="en-US" sz="1150" dirty="0">
                <a:solidFill>
                  <a:srgbClr val="1A241F"/>
                </a:solidFill>
                <a:latin typeface="Calibri" pitchFamily="34" charset="0"/>
                <a:ea typeface="Calibri" pitchFamily="34" charset="-122"/>
                <a:cs typeface="Calibri" pitchFamily="34" charset="-120"/>
              </a:rPr>
              <a:t>Mạnh về kỹ thuật và dữ liệu; còn thiếu năng lực đo lường tác động xã hội và kinh nghiệm làm việc trực tiếp với cộng đồng làng nghề.</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3D2A"/>
        </a:solidFill>
      </p:bgPr>
    </p:bg>
    <p:spTree>
      <p:nvGrpSpPr>
        <p:cNvPr id="1" name=""/>
        <p:cNvGrpSpPr/>
        <p:nvPr/>
      </p:nvGrpSpPr>
      <p:grpSpPr>
        <a:xfrm>
          <a:off x="0" y="0"/>
          <a:ext cx="0" cy="0"/>
          <a:chOff x="0" y="0"/>
          <a:chExt cx="0" cy="0"/>
        </a:xfrm>
      </p:grpSpPr>
      <p:sp>
        <p:nvSpPr>
          <p:cNvPr id="2" name="Shape 0"/>
          <p:cNvSpPr/>
          <p:nvPr/>
        </p:nvSpPr>
        <p:spPr>
          <a:xfrm>
            <a:off x="-1188720" y="3200400"/>
            <a:ext cx="3108960" cy="3108960"/>
          </a:xfrm>
          <a:prstGeom prst="ellipse">
            <a:avLst/>
          </a:prstGeom>
          <a:solidFill>
            <a:srgbClr val="17573B"/>
          </a:solidFill>
          <a:ln w="12700">
            <a:solidFill>
              <a:srgbClr val="17573B"/>
            </a:solidFill>
            <a:prstDash val="solid"/>
          </a:ln>
        </p:spPr>
      </p:sp>
      <p:sp>
        <p:nvSpPr>
          <p:cNvPr id="3" name="Text 1"/>
          <p:cNvSpPr txBox="1"/>
          <p:nvPr/>
        </p:nvSpPr>
        <p:spPr>
          <a:xfrm>
            <a:off x="502920" y="475488"/>
            <a:ext cx="8138160" cy="256032"/>
          </a:xfrm>
          <a:prstGeom prst="rect">
            <a:avLst/>
          </a:prstGeom>
          <a:noFill/>
          <a:ln/>
        </p:spPr>
        <p:txBody>
          <a:bodyPr wrap="square" lIns="0" tIns="0" rIns="0" bIns="0" rtlCol="0" anchor="ctr"/>
          <a:lstStyle/>
          <a:p>
            <a:pPr indent="0" marL="0">
              <a:buNone/>
            </a:pPr>
            <a:r>
              <a:rPr lang="en-US" sz="1100" b="1" spc="200" kern="0" dirty="0">
                <a:solidFill>
                  <a:srgbClr val="FF7A66"/>
                </a:solidFill>
                <a:latin typeface="Calibri" pitchFamily="34" charset="0"/>
                <a:ea typeface="Calibri" pitchFamily="34" charset="-122"/>
                <a:cs typeface="Calibri" pitchFamily="34" charset="-120"/>
              </a:rPr>
              <a:t>CHÚNG TÔI CẦN GÌ TỪ RE:ACT</a:t>
            </a:r>
            <a:endParaRPr lang="en-US" sz="1100" dirty="0"/>
          </a:p>
        </p:txBody>
      </p:sp>
      <p:sp>
        <p:nvSpPr>
          <p:cNvPr id="4" name="Text 2"/>
          <p:cNvSpPr txBox="1"/>
          <p:nvPr/>
        </p:nvSpPr>
        <p:spPr>
          <a:xfrm>
            <a:off x="502920" y="786384"/>
            <a:ext cx="7772400" cy="457200"/>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Hạ tầng thì có — bằng chứng và phương pháp thì chưa</a:t>
            </a:r>
            <a:endParaRPr lang="en-US" sz="2300" dirty="0"/>
          </a:p>
        </p:txBody>
      </p:sp>
      <p:sp>
        <p:nvSpPr>
          <p:cNvPr id="5" name="Shape 3"/>
          <p:cNvSpPr/>
          <p:nvPr/>
        </p:nvSpPr>
        <p:spPr>
          <a:xfrm>
            <a:off x="502920" y="1389888"/>
            <a:ext cx="2529840" cy="2084832"/>
          </a:xfrm>
          <a:prstGeom prst="roundRect">
            <a:avLst>
              <a:gd name="adj" fmla="val 4825"/>
            </a:avLst>
          </a:prstGeom>
          <a:solidFill>
            <a:srgbClr val="17573B"/>
          </a:solidFill>
          <a:ln w="9525">
            <a:solidFill>
              <a:srgbClr val="2E8B5E"/>
            </a:solidFill>
            <a:prstDash val="solid"/>
          </a:ln>
        </p:spPr>
      </p:sp>
      <p:sp>
        <p:nvSpPr>
          <p:cNvPr id="6" name="Shape 4"/>
          <p:cNvSpPr/>
          <p:nvPr/>
        </p:nvSpPr>
        <p:spPr>
          <a:xfrm>
            <a:off x="722376" y="1591056"/>
            <a:ext cx="310896" cy="310896"/>
          </a:xfrm>
          <a:prstGeom prst="ellipse">
            <a:avLst/>
          </a:prstGeom>
          <a:solidFill>
            <a:srgbClr val="D62828"/>
          </a:solidFill>
          <a:ln w="12700">
            <a:solidFill>
              <a:srgbClr val="D62828"/>
            </a:solidFill>
            <a:prstDash val="solid"/>
          </a:ln>
        </p:spPr>
      </p:sp>
      <p:sp>
        <p:nvSpPr>
          <p:cNvPr id="7" name="Text 5"/>
          <p:cNvSpPr txBox="1"/>
          <p:nvPr/>
        </p:nvSpPr>
        <p:spPr>
          <a:xfrm>
            <a:off x="722376" y="1602029"/>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722376" y="1993392"/>
            <a:ext cx="2090928" cy="548640"/>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mbria" pitchFamily="34" charset="0"/>
                <a:ea typeface="Cambria" pitchFamily="34" charset="-122"/>
                <a:cs typeface="Cambria" pitchFamily="34" charset="-120"/>
              </a:rPr>
              <a:t>Phiên đấu giá thật</a:t>
            </a:r>
            <a:endParaRPr lang="en-US" sz="1500" dirty="0"/>
          </a:p>
        </p:txBody>
      </p:sp>
      <p:sp>
        <p:nvSpPr>
          <p:cNvPr id="9" name="Text 7"/>
          <p:cNvSpPr txBox="1"/>
          <p:nvPr/>
        </p:nvSpPr>
        <p:spPr>
          <a:xfrm>
            <a:off x="722376" y="2578608"/>
            <a:ext cx="2090928" cy="786384"/>
          </a:xfrm>
          <a:prstGeom prst="rect">
            <a:avLst/>
          </a:prstGeom>
          <a:noFill/>
          <a:ln/>
        </p:spPr>
        <p:txBody>
          <a:bodyPr wrap="square" lIns="0" tIns="0" rIns="0" bIns="0" rtlCol="0" anchor="ctr"/>
          <a:lstStyle/>
          <a:p>
            <a:pPr indent="0" marL="0">
              <a:lnSpc>
                <a:spcPts val="1600"/>
              </a:lnSpc>
              <a:buNone/>
            </a:pPr>
            <a:r>
              <a:rPr lang="en-US" sz="1150" dirty="0">
                <a:solidFill>
                  <a:srgbClr val="C7DCCF"/>
                </a:solidFill>
                <a:latin typeface="Calibri" pitchFamily="34" charset="0"/>
                <a:ea typeface="Calibri" pitchFamily="34" charset="-122"/>
                <a:cs typeface="Calibri" pitchFamily="34" charset="-120"/>
              </a:rPr>
              <a:t>Giả định lõi — đấu giá công khai cho giá cao hơn đáng kể so với giá thương lái — chưa được kiểm định.</a:t>
            </a:r>
            <a:endParaRPr lang="en-US" sz="1150" dirty="0"/>
          </a:p>
        </p:txBody>
      </p:sp>
      <p:sp>
        <p:nvSpPr>
          <p:cNvPr id="10" name="Shape 8"/>
          <p:cNvSpPr/>
          <p:nvPr/>
        </p:nvSpPr>
        <p:spPr>
          <a:xfrm>
            <a:off x="3307080" y="1389888"/>
            <a:ext cx="2529840" cy="2084832"/>
          </a:xfrm>
          <a:prstGeom prst="roundRect">
            <a:avLst>
              <a:gd name="adj" fmla="val 4825"/>
            </a:avLst>
          </a:prstGeom>
          <a:solidFill>
            <a:srgbClr val="17573B"/>
          </a:solidFill>
          <a:ln w="9525">
            <a:solidFill>
              <a:srgbClr val="2E8B5E"/>
            </a:solidFill>
            <a:prstDash val="solid"/>
          </a:ln>
        </p:spPr>
      </p:sp>
      <p:sp>
        <p:nvSpPr>
          <p:cNvPr id="11" name="Shape 9"/>
          <p:cNvSpPr/>
          <p:nvPr/>
        </p:nvSpPr>
        <p:spPr>
          <a:xfrm>
            <a:off x="3526536" y="1591056"/>
            <a:ext cx="310896" cy="310896"/>
          </a:xfrm>
          <a:prstGeom prst="ellipse">
            <a:avLst/>
          </a:prstGeom>
          <a:solidFill>
            <a:srgbClr val="D62828"/>
          </a:solidFill>
          <a:ln w="12700">
            <a:solidFill>
              <a:srgbClr val="D62828"/>
            </a:solidFill>
            <a:prstDash val="solid"/>
          </a:ln>
        </p:spPr>
      </p:sp>
      <p:sp>
        <p:nvSpPr>
          <p:cNvPr id="12" name="Text 10"/>
          <p:cNvSpPr txBox="1"/>
          <p:nvPr/>
        </p:nvSpPr>
        <p:spPr>
          <a:xfrm>
            <a:off x="3526536" y="1602029"/>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3526536" y="1993392"/>
            <a:ext cx="2090928" cy="548640"/>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mbria" pitchFamily="34" charset="0"/>
                <a:ea typeface="Cambria" pitchFamily="34" charset="-122"/>
                <a:cs typeface="Cambria" pitchFamily="34" charset="-120"/>
              </a:rPr>
              <a:t>Mô hình bền vững</a:t>
            </a:r>
            <a:endParaRPr lang="en-US" sz="1500" dirty="0"/>
          </a:p>
        </p:txBody>
      </p:sp>
      <p:sp>
        <p:nvSpPr>
          <p:cNvPr id="14" name="Text 12"/>
          <p:cNvSpPr txBox="1"/>
          <p:nvPr/>
        </p:nvSpPr>
        <p:spPr>
          <a:xfrm>
            <a:off x="3526536" y="2578608"/>
            <a:ext cx="2090928" cy="786384"/>
          </a:xfrm>
          <a:prstGeom prst="rect">
            <a:avLst/>
          </a:prstGeom>
          <a:noFill/>
          <a:ln/>
        </p:spPr>
        <p:txBody>
          <a:bodyPr wrap="square" lIns="0" tIns="0" rIns="0" bIns="0" rtlCol="0" anchor="ctr"/>
          <a:lstStyle/>
          <a:p>
            <a:pPr indent="0" marL="0">
              <a:lnSpc>
                <a:spcPts val="1600"/>
              </a:lnSpc>
              <a:buNone/>
            </a:pPr>
            <a:r>
              <a:rPr lang="en-US" sz="1150" dirty="0">
                <a:solidFill>
                  <a:srgbClr val="C7DCCF"/>
                </a:solidFill>
                <a:latin typeface="Calibri" pitchFamily="34" charset="0"/>
                <a:ea typeface="Calibri" pitchFamily="34" charset="-122"/>
                <a:cs typeface="Calibri" pitchFamily="34" charset="-120"/>
              </a:rPr>
              <a:t>Thu phí hộ sản xuất theo cách thông thường sẽ loại bỏ chính nhóm mình phục vụ.</a:t>
            </a:r>
            <a:endParaRPr lang="en-US" sz="1150" dirty="0"/>
          </a:p>
        </p:txBody>
      </p:sp>
      <p:sp>
        <p:nvSpPr>
          <p:cNvPr id="15" name="Shape 13"/>
          <p:cNvSpPr/>
          <p:nvPr/>
        </p:nvSpPr>
        <p:spPr>
          <a:xfrm>
            <a:off x="6111240" y="1389888"/>
            <a:ext cx="2529840" cy="2084832"/>
          </a:xfrm>
          <a:prstGeom prst="roundRect">
            <a:avLst>
              <a:gd name="adj" fmla="val 4825"/>
            </a:avLst>
          </a:prstGeom>
          <a:solidFill>
            <a:srgbClr val="17573B"/>
          </a:solidFill>
          <a:ln w="9525">
            <a:solidFill>
              <a:srgbClr val="2E8B5E"/>
            </a:solidFill>
            <a:prstDash val="solid"/>
          </a:ln>
        </p:spPr>
      </p:sp>
      <p:sp>
        <p:nvSpPr>
          <p:cNvPr id="16" name="Shape 14"/>
          <p:cNvSpPr/>
          <p:nvPr/>
        </p:nvSpPr>
        <p:spPr>
          <a:xfrm>
            <a:off x="6330696" y="1591056"/>
            <a:ext cx="310896" cy="310896"/>
          </a:xfrm>
          <a:prstGeom prst="ellipse">
            <a:avLst/>
          </a:prstGeom>
          <a:solidFill>
            <a:srgbClr val="D62828"/>
          </a:solidFill>
          <a:ln w="12700">
            <a:solidFill>
              <a:srgbClr val="D62828"/>
            </a:solidFill>
            <a:prstDash val="solid"/>
          </a:ln>
        </p:spPr>
      </p:sp>
      <p:sp>
        <p:nvSpPr>
          <p:cNvPr id="17" name="Text 15"/>
          <p:cNvSpPr txBox="1"/>
          <p:nvPr/>
        </p:nvSpPr>
        <p:spPr>
          <a:xfrm>
            <a:off x="6330696" y="1602029"/>
            <a:ext cx="310896" cy="2834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6330696" y="1993392"/>
            <a:ext cx="2090928" cy="548640"/>
          </a:xfrm>
          <a:prstGeom prst="rect">
            <a:avLst/>
          </a:prstGeom>
          <a:noFill/>
          <a:ln/>
        </p:spPr>
        <p:txBody>
          <a:bodyPr wrap="square" lIns="0" tIns="0" rIns="0" bIns="0" rtlCol="0" anchor="ctr"/>
          <a:lstStyle/>
          <a:p>
            <a:pPr indent="0" marL="0">
              <a:lnSpc>
                <a:spcPts val="2000"/>
              </a:lnSpc>
              <a:buNone/>
            </a:pPr>
            <a:r>
              <a:rPr lang="en-US" sz="1500" b="1" dirty="0">
                <a:solidFill>
                  <a:srgbClr val="FFFFFF"/>
                </a:solidFill>
                <a:latin typeface="Cambria" pitchFamily="34" charset="0"/>
                <a:ea typeface="Cambria" pitchFamily="34" charset="-122"/>
                <a:cs typeface="Cambria" pitchFamily="34" charset="-120"/>
              </a:rPr>
              <a:t>Đo lường tác động</a:t>
            </a:r>
            <a:endParaRPr lang="en-US" sz="1500" dirty="0"/>
          </a:p>
        </p:txBody>
      </p:sp>
      <p:sp>
        <p:nvSpPr>
          <p:cNvPr id="19" name="Text 17"/>
          <p:cNvSpPr txBox="1"/>
          <p:nvPr/>
        </p:nvSpPr>
        <p:spPr>
          <a:xfrm>
            <a:off x="6330696" y="2578608"/>
            <a:ext cx="2090928" cy="786384"/>
          </a:xfrm>
          <a:prstGeom prst="rect">
            <a:avLst/>
          </a:prstGeom>
          <a:noFill/>
          <a:ln/>
        </p:spPr>
        <p:txBody>
          <a:bodyPr wrap="square" lIns="0" tIns="0" rIns="0" bIns="0" rtlCol="0" anchor="ctr"/>
          <a:lstStyle/>
          <a:p>
            <a:pPr indent="0" marL="0">
              <a:lnSpc>
                <a:spcPts val="1600"/>
              </a:lnSpc>
              <a:buNone/>
            </a:pPr>
            <a:r>
              <a:rPr lang="en-US" sz="1150" dirty="0">
                <a:solidFill>
                  <a:srgbClr val="C7DCCF"/>
                </a:solidFill>
                <a:latin typeface="Calibri" pitchFamily="34" charset="0"/>
                <a:ea typeface="Calibri" pitchFamily="34" charset="-122"/>
                <a:cs typeface="Calibri" pitchFamily="34" charset="-120"/>
              </a:rPr>
              <a:t>Chúng tôi biết xây hệ thống, chưa biết thiết kế khung đo tác động xã hội đạt chuẩn.</a:t>
            </a:r>
            <a:endParaRPr lang="en-US" sz="1150" dirty="0"/>
          </a:p>
        </p:txBody>
      </p:sp>
      <p:sp>
        <p:nvSpPr>
          <p:cNvPr id="20" name="Text 18"/>
          <p:cNvSpPr txBox="1"/>
          <p:nvPr/>
        </p:nvSpPr>
        <p:spPr>
          <a:xfrm>
            <a:off x="502920" y="3675888"/>
            <a:ext cx="7772400" cy="603504"/>
          </a:xfrm>
          <a:prstGeom prst="rect">
            <a:avLst/>
          </a:prstGeom>
          <a:noFill/>
          <a:ln/>
        </p:spPr>
        <p:txBody>
          <a:bodyPr wrap="square" lIns="0" tIns="0" rIns="0" bIns="0" rtlCol="0" anchor="ctr"/>
          <a:lstStyle/>
          <a:p>
            <a:pPr indent="0" marL="0">
              <a:lnSpc>
                <a:spcPts val="2300"/>
              </a:lnSpc>
              <a:buNone/>
            </a:pPr>
            <a:r>
              <a:rPr lang="en-US" sz="1600" b="1" i="1" dirty="0">
                <a:solidFill>
                  <a:srgbClr val="FF7A66"/>
                </a:solidFill>
                <a:latin typeface="Cambria" pitchFamily="34" charset="0"/>
                <a:ea typeface="Cambria" pitchFamily="34" charset="-122"/>
                <a:cs typeface="Cambria" pitchFamily="34" charset="-120"/>
              </a:rPr>
              <a:t>Trả quyền định giá về cho người làm ra sản phẩm — trước khi thế hệ cuối cùng biết nghề rời đi.</a:t>
            </a:r>
            <a:endParaRPr lang="en-US" sz="1600" dirty="0"/>
          </a:p>
        </p:txBody>
      </p:sp>
      <p:sp>
        <p:nvSpPr>
          <p:cNvPr id="21" name="Text 19"/>
          <p:cNvSpPr txBox="1"/>
          <p:nvPr/>
        </p:nvSpPr>
        <p:spPr>
          <a:xfrm>
            <a:off x="502920" y="4407408"/>
            <a:ext cx="8138160" cy="274320"/>
          </a:xfrm>
          <a:prstGeom prst="rect">
            <a:avLst/>
          </a:prstGeom>
          <a:noFill/>
          <a:ln/>
        </p:spPr>
        <p:txBody>
          <a:bodyPr wrap="square" lIns="0" tIns="0" rIns="0" bIns="0" rtlCol="0" anchor="ctr"/>
          <a:lstStyle/>
          <a:p>
            <a:pPr indent="0" marL="0">
              <a:buNone/>
            </a:pPr>
            <a:r>
              <a:rPr lang="en-US" sz="1150" dirty="0">
                <a:solidFill>
                  <a:srgbClr val="93B3A1"/>
                </a:solidFill>
                <a:latin typeface="Calibri" pitchFamily="34" charset="0"/>
                <a:ea typeface="Calibri" pitchFamily="34" charset="-122"/>
                <a:cs typeface="Calibri" pitchFamily="34" charset="-120"/>
              </a:rPr>
              <a:t>Tài Sản Đấu Giá  ·  SS Corp Việt Nam  ·  taisandaugia.vn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Tai San Dau Gia - RE:ACT 2026</dc:title>
  <dc:subject>PptxGenJS Presentation</dc:subject>
  <dc:creator>SS Corp Viet Nam</dc:creator>
  <cp:lastModifiedBy>SS Corp Viet Nam</cp:lastModifiedBy>
  <cp:revision>1</cp:revision>
  <dcterms:created xsi:type="dcterms:W3CDTF">2026-09-16T06:43:24Z</dcterms:created>
  <dcterms:modified xsi:type="dcterms:W3CDTF">2026-09-16T06:43:24Z</dcterms:modified>
</cp:coreProperties>
</file>