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A82F"/>
    <a:srgbClr val="0F2642"/>
    <a:srgbClr val="2B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8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7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6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5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011680"/>
            <a:ext cx="5120640" cy="512064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3291840"/>
            <a:ext cx="2926080" cy="2926080"/>
          </a:xfrm>
          <a:prstGeom prst="ellipse">
            <a:avLst/>
          </a:prstGeom>
          <a:solidFill>
            <a:srgbClr val="E0A82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68680" cy="86868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0401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CORP VIỆT NAM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Sản Đấu Giá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3464783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số Data-First cho thị trường đấu giá tài sản Việt Nam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“Trả tiền cho sự tự tin khi ra quyết định — không phải cho dữ liệu.”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567106"/>
            <a:ext cx="310896" cy="310896"/>
          </a:xfrm>
          <a:prstGeom prst="ellipse">
            <a:avLst/>
          </a:prstGeom>
          <a:solidFill>
            <a:srgbClr val="16395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" y="5644830"/>
            <a:ext cx="155448" cy="155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5567106"/>
            <a:ext cx="1437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taisandaugia.vn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5304710"/>
            <a:ext cx="6080760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679229" y="5531325"/>
            <a:ext cx="20601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mắt MVP: 23/06/2026</a:t>
            </a:r>
            <a:endParaRPr lang="en-US" sz="13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CC13E33-9E67-4BF8-FAFE-69667129689B}"/>
              </a:ext>
            </a:extLst>
          </p:cNvPr>
          <p:cNvSpPr/>
          <p:nvPr/>
        </p:nvSpPr>
        <p:spPr>
          <a:xfrm>
            <a:off x="2311356" y="55321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Thị trường đấu giá: phân tán dữ liệu, thiếu minh bạch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18608" cy="3200400"/>
          </a:xfrm>
          <a:prstGeom prst="roundRect">
            <a:avLst>
              <a:gd name="adj" fmla="val 2286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56816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20985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Với tổ chức đấu giá &amp; doanh nghiệp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8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phân tán, thiếu hệ thống dữ liệu tập trung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tận dụng AI, phân tích dữ liệu &amp; tự động hóa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tổ chức cao, khó quản trị &amp; truy vết dữ liệu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24448" y="1645920"/>
            <a:ext cx="5318608" cy="3200400"/>
          </a:xfrm>
          <a:prstGeom prst="roundRect">
            <a:avLst>
              <a:gd name="adj" fmla="val 2286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4488" y="1956816"/>
            <a:ext cx="566928" cy="56692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220" y="209854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6008" y="20116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Với người đi đấu giá / nhà đầu tư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690208" y="2834640"/>
            <a:ext cx="458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rải rác trong PDF, khó tiếp cận &amp; so sánh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chuẩn giá — bid “trong bóng tối”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Nỗi sợ lớn nhất: MẤT CỌC tiền tỷ nếu bid sai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1206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9EEF4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4400" y="5276088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cần:  </a:t>
            </a:r>
            <a:r>
              <a:rPr lang="en-US" sz="13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thông tin · chuẩn hóa dữ liệu · tăng tiếp cận nhà đầu tư · tối ưu vận hành · truy vết dữ liệu.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14400" y="5632704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Chưa có </a:t>
            </a:r>
            <a:r>
              <a:rPr lang="en-US" sz="130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số</a:t>
            </a:r>
            <a:r>
              <a:rPr lang="en-US" sz="13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nào biến dữ liệu đấu giá thành minh bạch &amp; trí tuệ ra quyết định.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BÂY GIỜ &amp; QUY MÔ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Thời điểm vàng cho một hạ tầng dữ liệu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55648"/>
            <a:ext cx="548640" cy="54864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928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19072"/>
            <a:ext cx="9722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cận “Data-First”: </a:t>
            </a: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 dữ liệu vận hành đấu giá là 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số tích lũy giá trị theo thời gian</a:t>
            </a: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nền cho một hạ tầng phục vụ kinh tế số.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812773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087093"/>
            <a:ext cx="548640" cy="54864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24253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772893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cung tăng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4111221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Nợ xấu &amp; tài sản phát mãi của ngân hàng / doanh nghiệp gia tăng (tỷ lệ nợ xấu ~4,6%).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38218" y="2812773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12538" y="3087093"/>
            <a:ext cx="548640" cy="54864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3224253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2538" y="3772893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phân mảnh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612538" y="4111221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 500 doanh nghiệp đấu giá + 62 trung tâm; dữ liệu công khai nhưng rời rạc.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127797" y="2812773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02117" y="3087093"/>
            <a:ext cx="548640" cy="54864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3224253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02117" y="3772893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 chính sách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402117" y="4111221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Đấu giá sửa đổi 2024 + đấu giá trực tuyến — mở hướng hợp tác B2G.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870173"/>
            <a:ext cx="3515258" cy="960120"/>
          </a:xfrm>
          <a:prstGeom prst="roundRect">
            <a:avLst>
              <a:gd name="adj" fmla="val 5714"/>
            </a:avLst>
          </a:prstGeom>
          <a:solidFill>
            <a:srgbClr val="E9EEF4"/>
          </a:solidFill>
          <a:ln/>
        </p:spPr>
      </p:sp>
      <p:sp>
        <p:nvSpPr>
          <p:cNvPr id="24" name="Text 18"/>
          <p:cNvSpPr/>
          <p:nvPr/>
        </p:nvSpPr>
        <p:spPr>
          <a:xfrm>
            <a:off x="822960" y="4979901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22960" y="5217645"/>
            <a:ext cx="3103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~100–200 nghìn tỷ đ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22960" y="5534505"/>
            <a:ext cx="3103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tài sản đấu giá/năm · chủ yếu QSDĐ (&gt;90%)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338218" y="4870173"/>
            <a:ext cx="3515258" cy="960120"/>
          </a:xfrm>
          <a:prstGeom prst="roundRect">
            <a:avLst>
              <a:gd name="adj" fmla="val 5714"/>
            </a:avLst>
          </a:prstGeom>
          <a:solidFill>
            <a:srgbClr val="E9EEF4"/>
          </a:solidFill>
          <a:ln/>
        </p:spPr>
      </p:sp>
      <p:sp>
        <p:nvSpPr>
          <p:cNvPr id="28" name="Text 22"/>
          <p:cNvSpPr/>
          <p:nvPr/>
        </p:nvSpPr>
        <p:spPr>
          <a:xfrm>
            <a:off x="4612538" y="4979901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612538" y="5217645"/>
            <a:ext cx="3103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~30–50 nghìn tỷ đ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4612538" y="5534505"/>
            <a:ext cx="3103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 mục tiêu: BĐS phát mãi · xe · máy móc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127797" y="4870173"/>
            <a:ext cx="3515258" cy="960120"/>
          </a:xfrm>
          <a:prstGeom prst="roundRect">
            <a:avLst>
              <a:gd name="adj" fmla="val 5714"/>
            </a:avLst>
          </a:prstGeom>
          <a:solidFill>
            <a:srgbClr val="E9EEF4"/>
          </a:solidFill>
          <a:ln/>
        </p:spPr>
      </p:sp>
      <p:sp>
        <p:nvSpPr>
          <p:cNvPr id="32" name="Text 26"/>
          <p:cNvSpPr/>
          <p:nvPr/>
        </p:nvSpPr>
        <p:spPr>
          <a:xfrm>
            <a:off x="8402117" y="4979901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402117" y="5217645"/>
            <a:ext cx="3103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~150–300 tỷ đ/năm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8402117" y="5534505"/>
            <a:ext cx="3103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khả đạt 3 năm (phí TT + listing + success fee)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48640" y="5912589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</a:t>
            </a:r>
            <a:r>
              <a:rPr lang="en-US" sz="8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cảnh (Bộ Tư pháp): ≈40.000 cuộc đấu giá/năm, &gt;90% là QSDĐ, gần 500 tổ chức · Nợ xấu ~4,6% (NHNN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nền tảng — kết nối mọi bên trong đấu giá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TÂM MVP — RA MẮT 23/06/2026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54298" cy="1280160"/>
          </a:xfrm>
          <a:prstGeom prst="roundRect">
            <a:avLst>
              <a:gd name="adj" fmla="val 5714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3204" y="2097156"/>
            <a:ext cx="640080" cy="64008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24" y="2257176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60444" y="2115444"/>
            <a:ext cx="1716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săn tài sản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60444" y="2428626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đầu tư &amp; môi giới đi đấu giá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68698" y="1783080"/>
            <a:ext cx="3454298" cy="1280160"/>
          </a:xfrm>
          <a:prstGeom prst="roundRect">
            <a:avLst>
              <a:gd name="adj" fmla="val 5714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3262" y="2097156"/>
            <a:ext cx="640080" cy="64008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282" y="2257176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80502" y="2115444"/>
            <a:ext cx="1716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ty đấu giá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380502" y="2428626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tổ chức đấu giá tài sản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88757" y="1783080"/>
            <a:ext cx="3454298" cy="1280160"/>
          </a:xfrm>
          <a:prstGeom prst="roundRect">
            <a:avLst>
              <a:gd name="adj" fmla="val 5714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23321" y="2097156"/>
            <a:ext cx="640080" cy="64008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341" y="2257176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00561" y="2115444"/>
            <a:ext cx="1716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Chủ tài sản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9200561" y="2428626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/ ngân hàng cần thanh lý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8640" y="3227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HỆ SINH THÁI (PHASE TIẾP THEO)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3520440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3808476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" y="3934206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3721608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 giá viên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463040" y="4041648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phiên phù hợp thế mạnh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368698" y="3520440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24730" y="3808476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460" y="3934206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83098" y="3721608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viên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283098" y="4041648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định giá độc lập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88757" y="3520440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44789" y="3808476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0519" y="3934206"/>
            <a:ext cx="251460" cy="2514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03157" y="3721608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sư / Cty luật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9103157" y="4041648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pháp lý chuyển nhượng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48640" y="4782312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804672" y="5070348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402" y="5196078"/>
            <a:ext cx="251460" cy="25146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463040" y="4983480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1463040" y="5303520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vay mua tài sản đấu giá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4368698" y="4782312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4624730" y="5070348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0460" y="5196078"/>
            <a:ext cx="251460" cy="25146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283098" y="4983480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chí / R&amp;D</a:t>
            </a:r>
            <a:endParaRPr lang="en-US" sz="1300" dirty="0"/>
          </a:p>
        </p:txBody>
      </p:sp>
      <p:sp>
        <p:nvSpPr>
          <p:cNvPr id="48" name="Text 38"/>
          <p:cNvSpPr/>
          <p:nvPr/>
        </p:nvSpPr>
        <p:spPr>
          <a:xfrm>
            <a:off x="5283098" y="5303520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phân tích theo ngành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8188757" y="4782312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8444789" y="5070348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0519" y="5196078"/>
            <a:ext cx="251460" cy="25146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9103157" y="4983480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quan nhà nước</a:t>
            </a:r>
            <a:endParaRPr lang="en-US" sz="1300" dirty="0"/>
          </a:p>
        </p:txBody>
      </p:sp>
      <p:sp>
        <p:nvSpPr>
          <p:cNvPr id="53" name="Text 42"/>
          <p:cNvSpPr/>
          <p:nvPr/>
        </p:nvSpPr>
        <p:spPr>
          <a:xfrm>
            <a:off x="9103157" y="5303520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cho quản lý &amp; hoạch định</a:t>
            </a:r>
            <a:endParaRPr lang="en-US" sz="1000" dirty="0"/>
          </a:p>
        </p:txBody>
      </p:sp>
      <p:sp>
        <p:nvSpPr>
          <p:cNvPr id="54" name="Text 4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55" name="Text 4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Data-First: 5 nhóm năng lực cốt lõi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66570"/>
            <a:ext cx="603504" cy="603504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201744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88538" y="182999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>
              <a:solidFill>
                <a:srgbClr val="2B8A8A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255237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&amp; quản trị dữ liệu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918130"/>
            <a:ext cx="295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hóa, hồ sơ số, vòng đời tài sản, lưu trữ tập trung.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68698" y="16916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3018" y="1866570"/>
            <a:ext cx="603504" cy="603504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894" y="201744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8597" y="182999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>
              <a:solidFill>
                <a:srgbClr val="2B8A8A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4643018" y="255237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khai &amp; vận hành nghiệp vụ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43018" y="2918130"/>
            <a:ext cx="295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bố theo phân quyền, vận hành quy trình trên môi trường số.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88757" y="16916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63077" y="1866570"/>
            <a:ext cx="603504" cy="603504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953" y="201744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28655" y="182999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>
              <a:solidFill>
                <a:srgbClr val="2B8A8A"/>
              </a:solidFill>
            </a:endParaRPr>
          </a:p>
        </p:txBody>
      </p:sp>
      <p:sp>
        <p:nvSpPr>
          <p:cNvPr id="20" name="Text 15"/>
          <p:cNvSpPr/>
          <p:nvPr/>
        </p:nvSpPr>
        <p:spPr>
          <a:xfrm>
            <a:off x="8463077" y="255237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điều hành &amp; phân tích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63077" y="2918130"/>
            <a:ext cx="295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thời gian thực, phân tích dữ liệu vận hành.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458669" y="37490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32989" y="3923970"/>
            <a:ext cx="603504" cy="603504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3865" y="4074846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98568" y="388739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>
              <a:solidFill>
                <a:srgbClr val="2B8A8A"/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2732989" y="460977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đấu giá trực tuyến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732989" y="4975530"/>
            <a:ext cx="295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hồ sơ &amp; người tham gia, truy vết lịch sử giao dịch.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278728" y="37490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553048" y="3923970"/>
            <a:ext cx="603504" cy="603504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3924" y="4074846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818626" y="388739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>
              <a:solidFill>
                <a:srgbClr val="2B8A8A"/>
              </a:solidFill>
            </a:endParaRPr>
          </a:p>
        </p:txBody>
      </p:sp>
      <p:sp>
        <p:nvSpPr>
          <p:cNvPr id="32" name="Text 25"/>
          <p:cNvSpPr/>
          <p:nvPr/>
        </p:nvSpPr>
        <p:spPr>
          <a:xfrm>
            <a:off x="6553048" y="460977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các bên liên quan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553048" y="4975530"/>
            <a:ext cx="295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người mua – chủ TS – đơn vị ĐG – đối tác dịch vụ.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Khung trí tuệ đấu giá — 4 lớp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2743200"/>
          </a:xfrm>
          <a:prstGeom prst="roundRect">
            <a:avLst>
              <a:gd name="adj" fmla="val 2968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5377" y="2240280"/>
            <a:ext cx="731520" cy="7315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257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520440"/>
            <a:ext cx="2062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đa nguồn + bóc tách PDF → dữ liệu có cấu trúc, phân loại tài sản.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31922" y="2834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25114" y="1920240"/>
            <a:ext cx="2464994" cy="2743200"/>
          </a:xfrm>
          <a:prstGeom prst="roundRect">
            <a:avLst>
              <a:gd name="adj" fmla="val 2968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1851" y="2240280"/>
            <a:ext cx="731520" cy="7315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731" y="24231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2274" y="3108960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26282" y="3520440"/>
            <a:ext cx="2062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đấu giá, tỷ lệ thành công, xu hướng giá khu vực.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08396" y="2834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301588" y="1920240"/>
            <a:ext cx="2464994" cy="2743200"/>
          </a:xfrm>
          <a:prstGeom prst="roundRect">
            <a:avLst>
              <a:gd name="adj" fmla="val 2968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68325" y="2240280"/>
            <a:ext cx="731520" cy="73152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205" y="24231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38748" y="3108960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(lõi)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02756" y="3520440"/>
            <a:ext cx="2062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giá trúng + khuyến nghị nên tham gia hay không.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784869" y="2834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178061" y="1920240"/>
            <a:ext cx="2464994" cy="2743200"/>
          </a:xfrm>
          <a:prstGeom prst="roundRect">
            <a:avLst>
              <a:gd name="adj" fmla="val 2968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44798" y="2240280"/>
            <a:ext cx="731520" cy="7315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678" y="24231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15221" y="3108960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79229" y="3520440"/>
            <a:ext cx="2062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đúng tài sản tới đúng người — cá nhân hoá trải nghiệm.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lớp tăng giá trị: từ dữ liệu → ngữ cảnh → quyết định → cá nhân hoá.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Tính năng &amp; giá trị theo 3 </a:t>
            </a:r>
            <a:r>
              <a:rPr lang="en-US" sz="2700" b="1" dirty="0" err="1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nhóm</a:t>
            </a: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</a:t>
            </a: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MVP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54298" cy="4526280"/>
          </a:xfrm>
          <a:prstGeom prst="roundRect">
            <a:avLst>
              <a:gd name="adj" fmla="val 2118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19705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65376"/>
            <a:ext cx="226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săn tài sản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nơi xem giá – dự đoán – quyết định bid; tiết kiệm 4–6h &amp; giảm rủi ro mất cọc.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905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CHÍNH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41248" y="3703320"/>
            <a:ext cx="28873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đấu giá &amp; bộ lọc nâng cao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nhu cầu &amp; hồ sơ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thị trường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giá &amp; recommendation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tài sản tương tự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ví credit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5532120"/>
            <a:ext cx="2905658" cy="438912"/>
          </a:xfrm>
          <a:prstGeom prst="roundRect">
            <a:avLst>
              <a:gd name="adj" fmla="val 12500"/>
            </a:avLst>
          </a:prstGeom>
          <a:solidFill>
            <a:srgbClr val="16395E"/>
          </a:solidFill>
          <a:ln/>
        </p:spPr>
      </p:sp>
      <p:sp>
        <p:nvSpPr>
          <p:cNvPr id="12" name="Shape 9"/>
          <p:cNvSpPr/>
          <p:nvPr/>
        </p:nvSpPr>
        <p:spPr>
          <a:xfrm>
            <a:off x="932688" y="5596128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673852"/>
            <a:ext cx="155448" cy="1554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5568696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cơ hội 50k (2cr)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68698" y="1554480"/>
            <a:ext cx="3454298" cy="4526280"/>
          </a:xfrm>
          <a:prstGeom prst="roundRect">
            <a:avLst>
              <a:gd name="adj" fmla="val 2118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43018" y="1828800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750" y="197053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28818" y="1865376"/>
            <a:ext cx="226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ty đấu giá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643018" y="251460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cận buyer pool có sẵn + số hoá hồ sơ năng lực, giảm phiên hỏng.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643018" y="3429000"/>
            <a:ext cx="2905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CHÍNH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661306" y="3703320"/>
            <a:ext cx="28873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hồ sơ năng lực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quản lý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dự tuyển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/ Featured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khách hàng &amp; đối thủ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đấu giá viên &amp; ví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43018" y="5532120"/>
            <a:ext cx="2905658" cy="438912"/>
          </a:xfrm>
          <a:prstGeom prst="roundRect">
            <a:avLst>
              <a:gd name="adj" fmla="val 12500"/>
            </a:avLst>
          </a:prstGeom>
          <a:solidFill>
            <a:srgbClr val="EAF3EC"/>
          </a:solidFill>
          <a:ln/>
        </p:spPr>
      </p:sp>
      <p:sp>
        <p:nvSpPr>
          <p:cNvPr id="23" name="Shape 18"/>
          <p:cNvSpPr/>
          <p:nvPr/>
        </p:nvSpPr>
        <p:spPr>
          <a:xfrm>
            <a:off x="4752746" y="5596128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470" y="5673852"/>
            <a:ext cx="155448" cy="1554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45938" y="5568696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hồ sơ dự tuyển 750k (30cr)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188757" y="1554480"/>
            <a:ext cx="3454298" cy="4526280"/>
          </a:xfrm>
          <a:prstGeom prst="roundRect">
            <a:avLst>
              <a:gd name="adj" fmla="val 2118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463077" y="1828800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809" y="197053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148877" y="1865376"/>
            <a:ext cx="226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Chủ tài sản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8463077" y="251460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hoá tài sản &amp; chọn đơn vị ĐG theo track record, rút ngắn thanh lý.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463077" y="3429000"/>
            <a:ext cx="2905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CHÍNH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8481365" y="3703320"/>
            <a:ext cx="28873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số hoá tài sản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quản lý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cuộc đấu giá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danh mục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CTĐG phù hợp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&amp; ví credit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463077" y="5532120"/>
            <a:ext cx="2905658" cy="438912"/>
          </a:xfrm>
          <a:prstGeom prst="roundRect">
            <a:avLst>
              <a:gd name="adj" fmla="val 12500"/>
            </a:avLst>
          </a:prstGeom>
          <a:solidFill>
            <a:srgbClr val="EAF3EC"/>
          </a:solidFill>
          <a:ln/>
        </p:spPr>
      </p:sp>
      <p:sp>
        <p:nvSpPr>
          <p:cNvPr id="34" name="Shape 27"/>
          <p:cNvSpPr/>
          <p:nvPr/>
        </p:nvSpPr>
        <p:spPr>
          <a:xfrm>
            <a:off x="8572805" y="5596128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529" y="5673852"/>
            <a:ext cx="155448" cy="1554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965997" y="5568696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danh mục 100k (4cr)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LÕI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Lõi trí tuệ — phục vụ cả 3 nhóm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754880" cy="3931920"/>
          </a:xfrm>
          <a:prstGeom prst="roundRect">
            <a:avLst>
              <a:gd name="adj" fmla="val 1860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0195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lõi Intelligence — câu hỏi quyết định của mỗi nhóm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7660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5968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săn tài sản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08760" y="2834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“Nên bid bao nhiêu?”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508760" y="31455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trúng dự đoán — vd 2.3–2.6 tỷ (+15%)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3630168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74446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575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đấu giá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508760" y="3813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“Khách hàng &amp; đối thủ là ai?”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508760" y="4123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Chân dung khách hàng + phân tích đối thủ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14400" y="4608576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472287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553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tài sản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508760" y="47914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“Định giá &amp; chọn đơn vị nào?”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508760" y="5102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giá tham chiếu + gợi ý CTĐG phù hợp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669280" y="1645920"/>
            <a:ext cx="5973775" cy="845820"/>
          </a:xfrm>
          <a:prstGeom prst="roundRect">
            <a:avLst>
              <a:gd name="adj" fmla="val 8649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43600" y="1794510"/>
            <a:ext cx="548640" cy="548640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93167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75120" y="1810512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Intelligence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675120" y="214884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giá trúng + so giá khởi điểm + so thị trường.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669280" y="2674620"/>
            <a:ext cx="5973775" cy="845820"/>
          </a:xfrm>
          <a:prstGeom prst="roundRect">
            <a:avLst>
              <a:gd name="adj" fmla="val 8649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43600" y="2823210"/>
            <a:ext cx="548640" cy="548640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296037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75120" y="2839212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6675120" y="317754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· Source · Owner · Market intelligence.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669280" y="3703320"/>
            <a:ext cx="5973775" cy="845820"/>
          </a:xfrm>
          <a:prstGeom prst="roundRect">
            <a:avLst>
              <a:gd name="adj" fmla="val 8649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943600" y="3851910"/>
            <a:ext cx="548640" cy="548640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398907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75120" y="3867912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6675120" y="420624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 tốt · Cân nhắc · Rủi ro cao.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669280" y="4732020"/>
            <a:ext cx="5973775" cy="845820"/>
          </a:xfrm>
          <a:prstGeom prst="roundRect">
            <a:avLst>
              <a:gd name="adj" fmla="val 8649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943600" y="4880610"/>
            <a:ext cx="548640" cy="548640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5017770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675120" y="4896612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50" dirty="0"/>
          </a:p>
        </p:txBody>
      </p:sp>
      <p:sp>
        <p:nvSpPr>
          <p:cNvPr id="40" name="Text 31"/>
          <p:cNvSpPr/>
          <p:nvPr/>
        </p:nvSpPr>
        <p:spPr>
          <a:xfrm>
            <a:off x="6675120" y="523494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tài sản / công ty / thị trường / nhóm TS.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THẾ CẠNH TRANH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Vòng xoáy dữ liệu — moat cộng dồn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39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Flywheel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475488" cy="47548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77063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670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từ cả 3 nhóm: người mua · công ty ĐG · chủ tài sản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51560" y="3108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3383280"/>
            <a:ext cx="475488" cy="47548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50215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401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dự đoán &amp; báo cáo mạnh dần, chính xác hơn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51560" y="3840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14400" y="4114800"/>
            <a:ext cx="475488" cy="47548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23367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133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tốt hơn cho mọi bên → nhiều người dùng &amp; giao dịch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051560" y="45720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4400" y="4846320"/>
            <a:ext cx="475488" cy="47548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9651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dữ liệu hơn → quay lại đầu vòng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583680" y="1783080"/>
            <a:ext cx="5059375" cy="3840480"/>
          </a:xfrm>
          <a:prstGeom prst="roundRect">
            <a:avLst>
              <a:gd name="adj" fmla="val 1905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949440" y="2039112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Loop → cộng dồn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49440" y="242316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→ Understanding → Decision → Personalization → lặp lại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949440" y="3063240"/>
            <a:ext cx="512064" cy="512064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456" y="319125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89520" y="3044952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589520" y="3319272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thao tác giá trị mỗi phiên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949440" y="3904488"/>
            <a:ext cx="512064" cy="512064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7456" y="4032504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589520" y="388620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7589520" y="416052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quay lại theo mỗi cơ hội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949440" y="4745736"/>
            <a:ext cx="512064" cy="512064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7456" y="4873752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589520" y="472744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7589520" y="500176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khoảnh khắc unlock kiếm tiền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KINH DOANH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thu phí </a:t>
            </a:r>
            <a:r>
              <a:rPr lang="en-US" sz="2700" b="1" dirty="0" err="1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</a:t>
            </a: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từng</a:t>
            </a: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</a:t>
            </a: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tượng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0F26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phí tại khoảnh khắc quyết định 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neo 1 credit = 25.000đ · ví tách theo role, credit không tiêu chéo.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454298" cy="3200400"/>
          </a:xfrm>
          <a:prstGeom prst="roundRect">
            <a:avLst>
              <a:gd name="adj" fmla="val 2286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798064"/>
            <a:ext cx="475488" cy="47548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9169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2816352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Người mua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3575304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350215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cơ hội đấu giá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78992" y="374904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 · 50.000đ   ·   </a:t>
            </a: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78992" y="405079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lọc nâng cao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429768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 · 25.000đ   · </a:t>
            </a: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41248" y="4672584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17" name="Text 14"/>
          <p:cNvSpPr/>
          <p:nvPr/>
        </p:nvSpPr>
        <p:spPr>
          <a:xfrm>
            <a:off x="1078992" y="459943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nhu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78992" y="484632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·   </a:t>
            </a:r>
            <a:r>
              <a:rPr lang="en-US" sz="950" b="1" dirty="0" err="1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</a:t>
            </a: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68698" y="2560320"/>
            <a:ext cx="3454298" cy="3200400"/>
          </a:xfrm>
          <a:prstGeom prst="roundRect">
            <a:avLst>
              <a:gd name="adj" fmla="val 2286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24730" y="2798064"/>
            <a:ext cx="475488" cy="47548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602" y="2916936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09946" y="2816352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Công ty đấu giá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661306" y="3575304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7" name="Text 23"/>
          <p:cNvSpPr/>
          <p:nvPr/>
        </p:nvSpPr>
        <p:spPr>
          <a:xfrm>
            <a:off x="4899050" y="350215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hồ sơ dự tuyển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99050" y="374904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cr · 750.000đ   ·   </a:t>
            </a: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661306" y="4123944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30" name="Text 26"/>
          <p:cNvSpPr/>
          <p:nvPr/>
        </p:nvSpPr>
        <p:spPr>
          <a:xfrm>
            <a:off x="4899050" y="405079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cáo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899050" y="429768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·   </a:t>
            </a:r>
            <a:r>
              <a:rPr lang="en-US" sz="950" b="1" dirty="0" err="1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</a:t>
            </a: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661306" y="4672584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33" name="Text 29"/>
          <p:cNvSpPr/>
          <p:nvPr/>
        </p:nvSpPr>
        <p:spPr>
          <a:xfrm>
            <a:off x="4899050" y="459943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khách hàng &amp; đối thủ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899050" y="484632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·   </a:t>
            </a: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ra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8188757" y="2560320"/>
            <a:ext cx="3454298" cy="3200400"/>
          </a:xfrm>
          <a:prstGeom prst="roundRect">
            <a:avLst>
              <a:gd name="adj" fmla="val 2286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8444789" y="2798064"/>
            <a:ext cx="475488" cy="47548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3661" y="2916936"/>
            <a:ext cx="237744" cy="23774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030005" y="2816352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Chủ tài sản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8481365" y="3575304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0" name="Text 35"/>
          <p:cNvSpPr/>
          <p:nvPr/>
        </p:nvSpPr>
        <p:spPr>
          <a:xfrm>
            <a:off x="8719109" y="350215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cáo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8719109" y="374904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 · 100.000đ   ·   </a:t>
            </a: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8719109" y="405079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hoá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8719109" y="429768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Tuỳ</a:t>
            </a: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</a:t>
            </a: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8481365" y="4672584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46" name="Text 41"/>
          <p:cNvSpPr/>
          <p:nvPr/>
        </p:nvSpPr>
        <p:spPr>
          <a:xfrm>
            <a:off x="8719109" y="459943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8719109" y="484632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·   </a:t>
            </a:r>
            <a:r>
              <a:rPr lang="en-US" sz="950" b="1" dirty="0" err="1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</a:t>
            </a: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80D9F417-5DE7-5764-103D-917A6D28133F}"/>
              </a:ext>
            </a:extLst>
          </p:cNvPr>
          <p:cNvSpPr/>
          <p:nvPr/>
        </p:nvSpPr>
        <p:spPr>
          <a:xfrm>
            <a:off x="841248" y="4123944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3" name="Shape 13">
            <a:extLst>
              <a:ext uri="{FF2B5EF4-FFF2-40B4-BE49-F238E27FC236}">
                <a16:creationId xmlns:a16="http://schemas.microsoft.com/office/drawing/2014/main" id="{5E329982-3EAD-5D7F-6CA4-C29679B3A422}"/>
              </a:ext>
            </a:extLst>
          </p:cNvPr>
          <p:cNvSpPr/>
          <p:nvPr/>
        </p:nvSpPr>
        <p:spPr>
          <a:xfrm>
            <a:off x="804672" y="5212080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43F6E7A1-BD77-DEFF-6265-C8DD08DC272F}"/>
              </a:ext>
            </a:extLst>
          </p:cNvPr>
          <p:cNvSpPr/>
          <p:nvPr/>
        </p:nvSpPr>
        <p:spPr>
          <a:xfrm>
            <a:off x="1042416" y="5138928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tắt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tin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tức</a:t>
            </a:r>
            <a:endParaRPr lang="en-US" sz="1100" dirty="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B2207716-1249-8997-8F7C-56C4A0B0D778}"/>
              </a:ext>
            </a:extLst>
          </p:cNvPr>
          <p:cNvSpPr/>
          <p:nvPr/>
        </p:nvSpPr>
        <p:spPr>
          <a:xfrm>
            <a:off x="1042416" y="5385816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·   </a:t>
            </a:r>
            <a:r>
              <a:rPr lang="en-US" sz="950" b="1" dirty="0" err="1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</a:t>
            </a: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950" dirty="0"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FB5774C4-3C8A-BA39-5D2B-8381B6158D95}"/>
              </a:ext>
            </a:extLst>
          </p:cNvPr>
          <p:cNvSpPr/>
          <p:nvPr/>
        </p:nvSpPr>
        <p:spPr>
          <a:xfrm>
            <a:off x="4661306" y="5224405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B84088DB-09F8-9B52-A212-503C13FD63D5}"/>
              </a:ext>
            </a:extLst>
          </p:cNvPr>
          <p:cNvSpPr/>
          <p:nvPr/>
        </p:nvSpPr>
        <p:spPr>
          <a:xfrm>
            <a:off x="4899050" y="5151253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thầu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TCDG</a:t>
            </a:r>
            <a:endParaRPr lang="en-US" sz="1100" dirty="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BB0FF503-9963-911F-72B9-944F86D860D7}"/>
              </a:ext>
            </a:extLst>
          </p:cNvPr>
          <p:cNvSpPr/>
          <p:nvPr/>
        </p:nvSpPr>
        <p:spPr>
          <a:xfrm>
            <a:off x="4899050" y="5398141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·   </a:t>
            </a: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ra</a:t>
            </a:r>
            <a:endParaRPr lang="en-US" sz="950" dirty="0"/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E65F0F83-806F-7CD0-313F-C408528C40FB}"/>
              </a:ext>
            </a:extLst>
          </p:cNvPr>
          <p:cNvSpPr/>
          <p:nvPr/>
        </p:nvSpPr>
        <p:spPr>
          <a:xfrm>
            <a:off x="8483857" y="4123944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DOANH THU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dữ liệu — nhiều động cơ (mô hình 2S)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55648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51660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37360"/>
            <a:ext cx="9951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Lõi: dữ liệu đấu giá chuẩn hoá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692.670+ tài sản · 570.560+ phiên · càng dùng càng dày → nuôi mọi dòng doanh thu.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53288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· 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— theo khối lượng giao dịch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78728" y="253288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BỀN VỮNG · 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— lặp lại, biên cao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310896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322326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026664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Credit &amp; báo cáo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17320" y="3355848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săn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32808" y="3172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AF3EC"/>
          </a:solidFill>
          <a:ln/>
        </p:spPr>
      </p:sp>
      <p:sp>
        <p:nvSpPr>
          <p:cNvPr id="16" name="Text 12"/>
          <p:cNvSpPr/>
          <p:nvPr/>
        </p:nvSpPr>
        <p:spPr>
          <a:xfrm>
            <a:off x="4632808" y="31729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393192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" y="416052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27482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078224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Profile &amp; </a:t>
            </a:r>
            <a:r>
              <a:rPr lang="en-US" sz="1350" b="1" dirty="0" err="1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cáo</a:t>
            </a: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</a:t>
            </a: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17320" y="4407408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32808" y="42245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AF3EC"/>
          </a:solidFill>
          <a:ln/>
        </p:spPr>
      </p:sp>
      <p:sp>
        <p:nvSpPr>
          <p:cNvPr id="23" name="Text 18"/>
          <p:cNvSpPr/>
          <p:nvPr/>
        </p:nvSpPr>
        <p:spPr>
          <a:xfrm>
            <a:off x="4632808" y="42245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8640" y="498348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521208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" y="532638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5129784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</a:t>
            </a:r>
            <a:r>
              <a:rPr lang="en-US" sz="1350" b="1" dirty="0" err="1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</a:t>
            </a: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417320" y="5458968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632808" y="527608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</p:sp>
      <p:sp>
        <p:nvSpPr>
          <p:cNvPr id="30" name="Text 24"/>
          <p:cNvSpPr/>
          <p:nvPr/>
        </p:nvSpPr>
        <p:spPr>
          <a:xfrm>
            <a:off x="4632808" y="52760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ra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278728" y="288036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534760" y="310896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9060" y="3223260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47408" y="3026664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subscription / API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7147408" y="3355848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săn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10362895" y="3172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1EFEF"/>
          </a:solidFill>
          <a:ln/>
        </p:spPr>
      </p:sp>
      <p:sp>
        <p:nvSpPr>
          <p:cNvPr id="37" name="Text 30"/>
          <p:cNvSpPr/>
          <p:nvPr/>
        </p:nvSpPr>
        <p:spPr>
          <a:xfrm>
            <a:off x="10362895" y="31729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Tiềm năng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278728" y="393192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534760" y="416052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9060" y="427482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47408" y="4078224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— Dữ liệu &amp; báo cáo</a:t>
            </a:r>
            <a:endParaRPr lang="en-US" sz="1350" dirty="0"/>
          </a:p>
        </p:txBody>
      </p:sp>
      <p:sp>
        <p:nvSpPr>
          <p:cNvPr id="42" name="Text 34"/>
          <p:cNvSpPr/>
          <p:nvPr/>
        </p:nvSpPr>
        <p:spPr>
          <a:xfrm>
            <a:off x="7147408" y="4407408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quan nhà nước ·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10362895" y="42245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1EFEF"/>
          </a:solidFill>
          <a:ln/>
        </p:spPr>
      </p:sp>
      <p:sp>
        <p:nvSpPr>
          <p:cNvPr id="44" name="Text 36"/>
          <p:cNvSpPr/>
          <p:nvPr/>
        </p:nvSpPr>
        <p:spPr>
          <a:xfrm>
            <a:off x="10362895" y="42245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Tiềm năng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278728" y="498348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0F2742"/>
          </a:solidFill>
          <a:ln/>
        </p:spPr>
      </p:sp>
      <p:sp>
        <p:nvSpPr>
          <p:cNvPr id="46" name="Shape 38"/>
          <p:cNvSpPr/>
          <p:nvPr/>
        </p:nvSpPr>
        <p:spPr>
          <a:xfrm>
            <a:off x="6534760" y="5212080"/>
            <a:ext cx="457200" cy="457200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9060" y="5326380"/>
            <a:ext cx="228600" cy="22860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147408" y="5148072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“ngôi sao” </a:t>
            </a:r>
            <a:r>
              <a:rPr lang="en-US" sz="1150" b="1" dirty="0" err="1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150" b="1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150" b="1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150" b="1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1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lặp lại, biên cao, khó copy — moat dài hạn từ chính dữ liệu độc quyền.</a:t>
            </a:r>
            <a:endParaRPr lang="en-US" sz="1150" dirty="0"/>
          </a:p>
        </p:txBody>
      </p:sp>
      <p:sp>
        <p:nvSpPr>
          <p:cNvPr id="49" name="Text 4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Sàn </a:t>
            </a:r>
            <a:r>
              <a:rPr lang="en-US" sz="2700" b="1" dirty="0" err="1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</a:t>
            </a: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47088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943100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9905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vận hành tại taisandaugia.vn 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nền tảng phục vụ 3 nhóm, đã thu phí từ 3 dịch vụ LIVE.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962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PHỦ DỮ LIỆU ĐẤU GIÁ TOÀN QUỐC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39" y="3282696"/>
            <a:ext cx="3501565" cy="1600200"/>
          </a:xfrm>
          <a:prstGeom prst="roundRect">
            <a:avLst>
              <a:gd name="adj" fmla="val 5161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04022" y="3520440"/>
            <a:ext cx="566928" cy="56692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754" y="36621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9284" y="4151376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692.670+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1129284" y="4489704"/>
            <a:ext cx="231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45064" y="3282696"/>
            <a:ext cx="3501565" cy="160020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21332" y="3520440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064" y="366217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46594" y="4151376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570.560+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4946594" y="4489704"/>
            <a:ext cx="231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Cuộc đấu giá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141490" y="3282696"/>
            <a:ext cx="3501565" cy="160020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14003" y="3520440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5735" y="366217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39266" y="4151376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670+</a:t>
            </a:r>
            <a:endParaRPr lang="en-US" sz="2300" dirty="0"/>
          </a:p>
        </p:txBody>
      </p:sp>
      <p:sp>
        <p:nvSpPr>
          <p:cNvPr id="23" name="Text 17"/>
          <p:cNvSpPr/>
          <p:nvPr/>
        </p:nvSpPr>
        <p:spPr>
          <a:xfrm>
            <a:off x="8739266" y="4489704"/>
            <a:ext cx="231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đấu giá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516636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/>
        </p:spPr>
      </p:sp>
      <p:sp>
        <p:nvSpPr>
          <p:cNvPr id="30" name="Text 23"/>
          <p:cNvSpPr/>
          <p:nvPr/>
        </p:nvSpPr>
        <p:spPr>
          <a:xfrm>
            <a:off x="914400" y="531266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Đầy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2020 -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CẠNH TRANH &amp; ĐỊNH VỊ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chúng tôi có lớp Decision Intelligence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30118"/>
              </p:ext>
            </p:extLst>
          </p:nvPr>
        </p:nvGraphicFramePr>
        <p:xfrm>
          <a:off x="548640" y="1783080"/>
          <a:ext cx="11091672" cy="32918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Cổng Bộ Tư pháp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công ty ĐG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Zalo/FB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Sản Đấu Giá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Gom đa nguồn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Bóc tách PDF → dữ liệu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Chuẩn</a:t>
                      </a: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hoá</a:t>
                      </a: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dữ</a:t>
                      </a: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liệu</a:t>
                      </a: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200" b="1" dirty="0" err="1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</a:t>
                      </a: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200" b="1" dirty="0" err="1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lọc</a:t>
                      </a: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trùng</a:t>
                      </a: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,... 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Dự đoán giá trúng (AI)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 spc="200" dirty="0" err="1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Sắp</a:t>
                      </a:r>
                      <a:r>
                        <a:rPr lang="en-US" sz="1400" b="1" kern="0" spc="200" dirty="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400" b="1" kern="0" spc="200" dirty="0" err="1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Khuyến nghị &amp; cá nhân hoá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 spc="200" dirty="0" err="1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Sắp</a:t>
                      </a:r>
                      <a:r>
                        <a:rPr lang="en-US" sz="1400" b="1" kern="0" spc="200" dirty="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400" b="1" kern="0" spc="200" dirty="0" err="1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sản phẩm &amp; mở rộng hệ sinh thái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01952"/>
            <a:ext cx="512064" cy="512064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0299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920240"/>
            <a:ext cx="2402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săn tài sản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2606040"/>
            <a:ext cx="28873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pricing intelligence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chuyên sâu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tài sản tương tự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tin tức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 hằng ngày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8698" y="164592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4730" y="1901952"/>
            <a:ext cx="512064" cy="512064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746" y="202996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64810" y="1920240"/>
            <a:ext cx="2402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ty đấu giá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61306" y="2606040"/>
            <a:ext cx="28873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khách hàng &amp; đối thủ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ĐGV theo phiên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nội bộ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nhân viên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phiên hợp hồ sơ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8757" y="164592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4789" y="1901952"/>
            <a:ext cx="512064" cy="512064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805" y="20299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4869" y="1920240"/>
            <a:ext cx="2402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Chủ tài sản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81365" y="2606040"/>
            <a:ext cx="28873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CTĐG phù hợp profile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chuyên sâu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HST: định giá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pháp lý chuyển nhượng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937760"/>
            <a:ext cx="11094415" cy="1188720"/>
          </a:xfrm>
          <a:prstGeom prst="roundRect">
            <a:avLst>
              <a:gd name="adj" fmla="val 6957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14400" y="5120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HỆ SINH THÁI (SAU MVP)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4400" y="5527746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" y="5623758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554603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505124" y="5527746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1136" y="5623758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08044" y="554603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sư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095848" y="5527746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860" y="5623758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98768" y="554603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viên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8686571" y="5527746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2583" y="5623758"/>
            <a:ext cx="192024" cy="19202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189491" y="554603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 giá viên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Đứng sau là SS Corp Việt Nam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2742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916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9722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TNHH Giải pháp Xã hội SS Corp Việt Nam  </a:t>
            </a: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taisandaugia.vn · spms2.com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295144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 trở thành hạ tầng công nghệ phục vụ kinh tế số.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499284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386802" y="3291840"/>
            <a:ext cx="822960" cy="82296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542" y="34975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2062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Vũ Hiệp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85800" y="452628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 dự án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31520" y="482803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&amp; vận hành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13684" y="3017520"/>
            <a:ext cx="2499284" cy="2377440"/>
          </a:xfrm>
          <a:prstGeom prst="roundRect">
            <a:avLst>
              <a:gd name="adj" fmla="val 3077"/>
            </a:avLst>
          </a:prstGeom>
          <a:solidFill>
            <a:srgbClr val="E9EEF4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51846" y="3291840"/>
            <a:ext cx="822960" cy="822960"/>
          </a:xfrm>
          <a:prstGeom prst="ellipse">
            <a:avLst/>
          </a:prstGeom>
          <a:solidFill>
            <a:srgbClr val="16395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586" y="34975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50844" y="42062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[Họ tên]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3550844" y="452628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Trưởng Sản phẩm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596564" y="482803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&amp; phát triển sản phẩm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78728" y="3017520"/>
            <a:ext cx="2499284" cy="2377440"/>
          </a:xfrm>
          <a:prstGeom prst="roundRect">
            <a:avLst>
              <a:gd name="adj" fmla="val 3077"/>
            </a:avLst>
          </a:prstGeom>
          <a:solidFill>
            <a:srgbClr val="E9EEF4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16889" y="3291840"/>
            <a:ext cx="822960" cy="822960"/>
          </a:xfrm>
          <a:prstGeom prst="ellipse">
            <a:avLst/>
          </a:prstGeom>
          <a:solidFill>
            <a:srgbClr val="16395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630" y="349758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15888" y="42062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[Họ tên]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15888" y="452628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Data / AI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61608" y="482803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&amp; phân tích dữ liệu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9143771" y="3017520"/>
            <a:ext cx="2499284" cy="2377440"/>
          </a:xfrm>
          <a:prstGeom prst="roundRect">
            <a:avLst>
              <a:gd name="adj" fmla="val 3077"/>
            </a:avLst>
          </a:prstGeom>
          <a:solidFill>
            <a:srgbClr val="E9EEF4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981933" y="3291840"/>
            <a:ext cx="822960" cy="822960"/>
          </a:xfrm>
          <a:prstGeom prst="ellipse">
            <a:avLst/>
          </a:prstGeom>
          <a:solidFill>
            <a:srgbClr val="16395E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7673" y="349758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80931" y="42062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[Họ tên]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9280931" y="452628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 vấn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9326651" y="482803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môn / đầu tư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phóng &amp; Unit economics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933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phóng doanh thu 3–5 năm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950976" cy="411480"/>
          </a:xfrm>
          <a:prstGeom prst="roundRect">
            <a:avLst>
              <a:gd name="adj" fmla="val 8889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994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93976" y="3806190"/>
            <a:ext cx="950976" cy="720090"/>
          </a:xfrm>
          <a:prstGeom prst="roundRect">
            <a:avLst>
              <a:gd name="adj" fmla="val 5079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2536" y="45994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3552" y="3497580"/>
            <a:ext cx="950976" cy="1028700"/>
          </a:xfrm>
          <a:prstGeom prst="roundRect">
            <a:avLst>
              <a:gd name="adj" fmla="val 3846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45994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53128" y="3188970"/>
            <a:ext cx="950976" cy="1337310"/>
          </a:xfrm>
          <a:prstGeom prst="roundRect">
            <a:avLst>
              <a:gd name="adj" fmla="val 3846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45994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32704" y="2880360"/>
            <a:ext cx="950976" cy="1645920"/>
          </a:xfrm>
          <a:prstGeom prst="roundRect">
            <a:avLst>
              <a:gd name="adj" fmla="val 3846"/>
            </a:avLst>
          </a:prstGeom>
          <a:solidFill>
            <a:srgbClr val="E0A82E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45994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526280"/>
            <a:ext cx="566928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24028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0" y="2354580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0" y="173736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0" y="2103120"/>
            <a:ext cx="4327855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589520" y="2212848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589520" y="2487168"/>
            <a:ext cx="259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thu hút 1 khách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479128" y="2286000"/>
            <a:ext cx="188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98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[___]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315200" y="2807208"/>
            <a:ext cx="4327855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589520" y="2916936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589520" y="3191256"/>
            <a:ext cx="259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vòng đời khách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479128" y="2990088"/>
            <a:ext cx="188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98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[___]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315200" y="3511296"/>
            <a:ext cx="4327855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589520" y="3621024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589520" y="3895344"/>
            <a:ext cx="259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số hiệu quả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479128" y="3694176"/>
            <a:ext cx="188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98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[__x]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7315200" y="4215384"/>
            <a:ext cx="4327855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589520" y="4325112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589520" y="4599432"/>
            <a:ext cx="259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hoàn vốn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479128" y="4398264"/>
            <a:ext cx="188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98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 tháng]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7315200" y="4919472"/>
            <a:ext cx="4327855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/>
          <a:effectLst>
            <a:outerShdw blurRad="114300" dist="38100" dir="5400000" algn="bl" rotWithShape="0">
              <a:srgbClr val="0F2742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589520" y="5029200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589520" y="5303520"/>
            <a:ext cx="259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lợi nhuận gộp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479128" y="5102352"/>
            <a:ext cx="188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98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[__%]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Chúng tôi đang gọi vốn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0A8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TIỀN GỌI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[___ USD / tỷ đ]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0" y="20116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6395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LẤY (EQUITY)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[___ %]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VỐN VÀO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2533574" cy="1280160"/>
          </a:xfrm>
          <a:prstGeom prst="roundRect">
            <a:avLst>
              <a:gd name="adj" fmla="val 4286"/>
            </a:avLst>
          </a:prstGeom>
          <a:solidFill>
            <a:srgbClr val="16395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41198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4288536"/>
            <a:ext cx="16191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[__%]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" y="4910328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&amp; AI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402254" y="4069080"/>
            <a:ext cx="2533574" cy="1280160"/>
          </a:xfrm>
          <a:prstGeom prst="roundRect">
            <a:avLst>
              <a:gd name="adj" fmla="val 4286"/>
            </a:avLst>
          </a:prstGeom>
          <a:solidFill>
            <a:srgbClr val="16395E"/>
          </a:solidFill>
          <a:ln/>
        </p:spPr>
      </p:sp>
      <p:sp>
        <p:nvSpPr>
          <p:cNvPr id="18" name="Shape 15"/>
          <p:cNvSpPr/>
          <p:nvPr/>
        </p:nvSpPr>
        <p:spPr>
          <a:xfrm>
            <a:off x="3630854" y="429768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154" y="441198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25214" y="4288536"/>
            <a:ext cx="16191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[__%]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630854" y="4910328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hạ tầng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255868" y="4069080"/>
            <a:ext cx="2533574" cy="1280160"/>
          </a:xfrm>
          <a:prstGeom prst="roundRect">
            <a:avLst>
              <a:gd name="adj" fmla="val 4286"/>
            </a:avLst>
          </a:prstGeom>
          <a:solidFill>
            <a:srgbClr val="16395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84468" y="429768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68" y="441198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78828" y="4288536"/>
            <a:ext cx="16191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[__%]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484468" y="4910328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marketing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9109481" y="4069080"/>
            <a:ext cx="2533574" cy="1280160"/>
          </a:xfrm>
          <a:prstGeom prst="roundRect">
            <a:avLst>
              <a:gd name="adj" fmla="val 4286"/>
            </a:avLst>
          </a:prstGeom>
          <a:solidFill>
            <a:srgbClr val="16395E"/>
          </a:solidFill>
          <a:ln/>
        </p:spPr>
      </p:sp>
      <p:sp>
        <p:nvSpPr>
          <p:cNvPr id="28" name="Shape 23"/>
          <p:cNvSpPr/>
          <p:nvPr/>
        </p:nvSpPr>
        <p:spPr>
          <a:xfrm>
            <a:off x="9338081" y="429768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2381" y="441198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932441" y="4288536"/>
            <a:ext cx="16191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[__%]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338081" y="4910328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Tuyển dụng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 đạt được trước vòng sau:  ⚠ [____]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10088575" y="3474720"/>
            <a:ext cx="2743200" cy="2743200"/>
          </a:xfrm>
          <a:prstGeom prst="ellipse">
            <a:avLst/>
          </a:prstGeom>
          <a:solidFill>
            <a:srgbClr val="E0A82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028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công cụ định giá → hạ tầng giao dịch tài sản toàn diện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tài sản → định giá → đấu giá → vay vốn → pháp lý → sang tên — hạ tầng công nghệ cho kinh tế số, phục vụ doanh nghiệp, ngân hàng và cơ quan nhà nước.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6395E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6395E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2648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6395E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1540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6395E"/>
          </a:solidFill>
          <a:ln/>
        </p:spPr>
      </p:sp>
      <p:sp>
        <p:nvSpPr>
          <p:cNvPr id="16" name="Text 13"/>
          <p:cNvSpPr/>
          <p:nvPr/>
        </p:nvSpPr>
        <p:spPr>
          <a:xfrm>
            <a:off x="891540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Analytics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4800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Vietnam &amp; Hanoi</a:t>
            </a: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tư duy chủ động làm chủ công nghệ &amp; dữ liệu số.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440680"/>
            <a:ext cx="2743200" cy="0"/>
          </a:xfrm>
          <a:prstGeom prst="line">
            <a:avLst/>
          </a:prstGeom>
          <a:noFill/>
          <a:ln w="25400">
            <a:solidFill>
              <a:srgbClr val="E0A8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577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“Trả tiền cho sự tự tin — không phải cho dữ liệu.”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486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taisandaugia.vn  ·  SS Corp Việt Nam  ·  Phạm Vũ Hiệp — 0913 383 879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2358</Words>
  <Application>Microsoft Macintosh PowerPoint</Application>
  <PresentationFormat>Widescreen</PresentationFormat>
  <Paragraphs>391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Tài Sản Đấu Giá — Pitch IDG</dc:title>
  <dc:subject>PptxGenJS Presentation</dc:subject>
  <dc:creator>SS Corp Việt Nam</dc:creator>
  <cp:lastModifiedBy>Nguyễn Lê Thanh Hà (VSF-PMDC&amp;CTM-PMNS)</cp:lastModifiedBy>
  <cp:revision>4</cp:revision>
  <dcterms:created xsi:type="dcterms:W3CDTF">2026-06-17T13:31:23Z</dcterms:created>
  <dcterms:modified xsi:type="dcterms:W3CDTF">2026-06-17T14:00:25Z</dcterms:modified>
</cp:coreProperties>
</file>