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011680"/>
            <a:ext cx="5120640" cy="512064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3291840"/>
            <a:ext cx="2926080" cy="2926080"/>
          </a:xfrm>
          <a:prstGeom prst="ellipse">
            <a:avLst/>
          </a:prstGeom>
          <a:solidFill>
            <a:srgbClr val="E0A82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68680" cy="8686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401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CORP VIỆT NAM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Sản Đấu Giá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số Data-First cho thị trường đấu giá tài sản Việt Nam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“Trả tiền cho sự tự tin khi ra quyết định — không phải cho dữ liệu.”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526280"/>
            <a:ext cx="310896" cy="310896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4604004"/>
            <a:ext cx="155448" cy="155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taisandaugia.vn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5074920"/>
            <a:ext cx="2926080" cy="0"/>
          </a:xfrm>
          <a:prstGeom prst="line">
            <a:avLst/>
          </a:prstGeom>
          <a:noFill/>
          <a:ln w="25400">
            <a:solidFill>
              <a:srgbClr val="E0A8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GỌI VỐN  ·  ⚠ Vòng [Seed/Series A]  ·  Ra mắt MVP: 23/06/2026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Thị trường đấu giá: phân tán dữ liệu, thiếu minh bạch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1860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56816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0985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tổ chức đấu giá &amp; doanh nghiệp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8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phân tán, thiếu hệ thống dữ liệu tập trung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tận dụng AI, phân tích dữ liệu &amp; tự động hóa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tổ chức cao, khó quản trị &amp; truy vết dữ liệu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4448" y="1645920"/>
            <a:ext cx="5318608" cy="3200400"/>
          </a:xfrm>
          <a:prstGeom prst="roundRect">
            <a:avLst>
              <a:gd name="adj" fmla="val 2286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1956816"/>
            <a:ext cx="566928" cy="56692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220" y="20985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20116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người đi đấu giá / nhà đầu tư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690208" y="2834640"/>
            <a:ext cx="458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rải rác trong PDF, khó tiếp cận &amp; so sánh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chuẩn giá — bid “trong bóng tối”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Nỗi sợ lớn nhất: MẤT CỌC tiền tỷ nếu bid sai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9EEF4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4400" y="5276088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cần:  </a:t>
            </a:r>
            <a:pPr indent="0" marL="0">
              <a:buNone/>
            </a:pPr>
            <a:r>
              <a:rPr lang="en-US" sz="13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thông tin · chuẩn hóa dữ liệu · tăng tiếp cận nhà đầu tư · tối ưu vận hành · truy vết dữ liệu.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14400" y="5632704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Chưa có </a:t>
            </a:r>
            <a:pPr indent="0" marL="0">
              <a:buNone/>
            </a:pP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số</a:t>
            </a:r>
            <a:pPr indent="0" marL="0">
              <a:buNone/>
            </a:pPr>
            <a:r>
              <a:rPr lang="en-US" sz="13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nào biến dữ liệu đấu giá thành minh bạch &amp; trí tuệ ra quyết định.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BÂY GIỜ &amp; QUY MÔ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điểm vàng cho một hạ tầng dữ liệu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55648"/>
            <a:ext cx="548640" cy="54864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928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19072"/>
            <a:ext cx="9722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 “Data-First”: </a:t>
            </a:r>
            <a:pPr indent="0" marL="0"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 dữ liệu vận hành đấu giá là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số tích lũy giá trị theo thời gian</a:t>
            </a:r>
            <a:pPr indent="0" marL="0"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nền cho một hạ tầng phục vụ kinh tế số.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54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7033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cung tăng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404164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Nợ xấu &amp; tài sản phát mãi của ngân hàng / doanh nghiệp gia tăng (tỷ lệ nợ xấu ~4,6%).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38218" y="2743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2538" y="3017520"/>
            <a:ext cx="548640" cy="54864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698" y="3154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2538" y="37033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phân mảnh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612538" y="404164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500 doanh nghiệp đấu giá + 62 trung tâm; dữ liệu công khai nhưng rời rạc.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27797" y="2743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02117" y="3017520"/>
            <a:ext cx="548640" cy="54864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277" y="31546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02117" y="37033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 chính sách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402117" y="404164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Đấu giá sửa đổi 2024 + đấu giá trực tuyến — mở hướng hợp tác B2G.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800600"/>
            <a:ext cx="3515258" cy="960120"/>
          </a:xfrm>
          <a:prstGeom prst="roundRect">
            <a:avLst>
              <a:gd name="adj" fmla="val 5714"/>
            </a:avLst>
          </a:prstGeom>
          <a:solidFill>
            <a:srgbClr val="E9EEF4"/>
          </a:solidFill>
          <a:ln/>
        </p:spPr>
      </p:sp>
      <p:sp>
        <p:nvSpPr>
          <p:cNvPr id="24" name="Text 18"/>
          <p:cNvSpPr/>
          <p:nvPr/>
        </p:nvSpPr>
        <p:spPr>
          <a:xfrm>
            <a:off x="822960" y="491032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22960" y="5148072"/>
            <a:ext cx="3103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~100–200 nghìn tỷ đ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2960" y="5504688"/>
            <a:ext cx="310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tài sản đấu giá/năm · chủ yếu QSDĐ (&gt;90%)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338218" y="4800600"/>
            <a:ext cx="3515258" cy="960120"/>
          </a:xfrm>
          <a:prstGeom prst="roundRect">
            <a:avLst>
              <a:gd name="adj" fmla="val 5714"/>
            </a:avLst>
          </a:prstGeom>
          <a:solidFill>
            <a:srgbClr val="E9EEF4"/>
          </a:solidFill>
          <a:ln/>
        </p:spPr>
      </p:sp>
      <p:sp>
        <p:nvSpPr>
          <p:cNvPr id="28" name="Text 22"/>
          <p:cNvSpPr/>
          <p:nvPr/>
        </p:nvSpPr>
        <p:spPr>
          <a:xfrm>
            <a:off x="4612538" y="491032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612538" y="5148072"/>
            <a:ext cx="3103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~30–50 nghìn tỷ đ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4612538" y="5504688"/>
            <a:ext cx="310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mục tiêu: BĐS phát mãi · xe · máy móc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127797" y="4800600"/>
            <a:ext cx="3515258" cy="960120"/>
          </a:xfrm>
          <a:prstGeom prst="roundRect">
            <a:avLst>
              <a:gd name="adj" fmla="val 5714"/>
            </a:avLst>
          </a:prstGeom>
          <a:solidFill>
            <a:srgbClr val="E9EEF4"/>
          </a:solidFill>
          <a:ln/>
        </p:spPr>
      </p:sp>
      <p:sp>
        <p:nvSpPr>
          <p:cNvPr id="32" name="Text 26"/>
          <p:cNvSpPr/>
          <p:nvPr/>
        </p:nvSpPr>
        <p:spPr>
          <a:xfrm>
            <a:off x="8402117" y="491032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402117" y="5148072"/>
            <a:ext cx="3103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~150–300 tỷ đ/năm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8402117" y="5504688"/>
            <a:ext cx="310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khả đạt 3 năm (phí TT + listing + success fee)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48640" y="5843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tính nội bộ · Bối cảnh (Bộ Tư pháp): ≈40.000 cuộc đấu giá/năm, &gt;90% là QSDĐ, gần 500 tổ chức · Nợ xấu ~4,6% (NHNN). GMV cần kiểm chứng thêm.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nền tảng — kết nối mọi bên trong đấu giá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 MVP — RA MẮT 23/06/2026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4298" cy="1280160"/>
          </a:xfrm>
          <a:prstGeom prst="roundRect">
            <a:avLst>
              <a:gd name="adj" fmla="val 5714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174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34258" y="19476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2075688"/>
            <a:ext cx="1716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săn tài sản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đầu tư &amp; môi giới đi đấu giá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8698" y="1783080"/>
            <a:ext cx="3454298" cy="1280160"/>
          </a:xfrm>
          <a:prstGeom prst="roundRect">
            <a:avLst>
              <a:gd name="adj" fmla="val 5714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3018" y="2057400"/>
            <a:ext cx="640080" cy="6400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22174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54317" y="19476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20258" y="2075688"/>
            <a:ext cx="1716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ty đấu giá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43018" y="269748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tổ chức đấu giá tài sản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8757" y="1783080"/>
            <a:ext cx="3454298" cy="1280160"/>
          </a:xfrm>
          <a:prstGeom prst="roundRect">
            <a:avLst>
              <a:gd name="adj" fmla="val 5714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63077" y="2057400"/>
            <a:ext cx="640080" cy="64008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97" y="22174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74375" y="19476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240317" y="2075688"/>
            <a:ext cx="1716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tài sản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463077" y="269748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/ ngân hàng cần thanh lý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3227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HỆ SINH THÁI (PHASE TIẾP THEO)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520440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3808476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" y="3934206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3721608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giá viên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463040" y="404164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phiên phù hợp thế mạnh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68698" y="3520440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24730" y="3808476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460" y="3934206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83098" y="3721608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viên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283098" y="404164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định giá độc lập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88757" y="3520440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44789" y="3808476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519" y="3934206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03157" y="3721608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sư / Cty luật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103157" y="4041648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pháp lý chuyển nhượng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48640" y="4782312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04672" y="5070348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402" y="5196078"/>
            <a:ext cx="251460" cy="2514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463040" y="4983480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1463040" y="5303520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vay mua tài sản đấu giá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4368698" y="4782312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4624730" y="5070348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460" y="5196078"/>
            <a:ext cx="251460" cy="2514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283098" y="4983480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chí / R&amp;D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5283098" y="5303520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phân tích theo ngành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8188757" y="4782312"/>
            <a:ext cx="3454298" cy="1078992"/>
          </a:xfrm>
          <a:prstGeom prst="roundRect">
            <a:avLst>
              <a:gd name="adj" fmla="val 678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8444789" y="5070348"/>
            <a:ext cx="502920" cy="5029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0519" y="5196078"/>
            <a:ext cx="251460" cy="25146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103157" y="4983480"/>
            <a:ext cx="2357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quan nhà nước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9103157" y="5303520"/>
            <a:ext cx="2402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cho quản lý &amp; hoạch định</a:t>
            </a:r>
            <a:endParaRPr lang="en-US" sz="1000" dirty="0"/>
          </a:p>
        </p:txBody>
      </p:sp>
      <p:sp>
        <p:nvSpPr>
          <p:cNvPr id="54" name="Text 4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Data-First: 5 nhóm năng lực cốt lõi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11683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88538" y="19293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&amp; quản trị dữ liệu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hóa, hồ sơ số, vòng đời tài sản, lưu trữ tập trung.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68698" y="16916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3018" y="196596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894" y="211683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8597" y="19293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643018" y="26517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khai &amp; vận hành nghiệp vụ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3018" y="301752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bố theo phân quyền, vận hành quy trình trên môi trường số.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8757" y="16916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3077" y="196596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953" y="211683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28655" y="19293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463077" y="26517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điều hành &amp; phân tích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63077" y="301752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thời gian thực, phân tích dữ liệu vận hành.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458669" y="37490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32989" y="402336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865" y="417423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98568" y="3986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2732989" y="4709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đấu giá trực tuyến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732989" y="507492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hồ sơ &amp; người tham gia, truy vết lịch sử giao dịch.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78728" y="374904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53048" y="4023360"/>
            <a:ext cx="603504" cy="603504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924" y="4174236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18626" y="3986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25"/>
          <p:cNvSpPr/>
          <p:nvPr/>
        </p:nvSpPr>
        <p:spPr>
          <a:xfrm>
            <a:off x="6553048" y="470916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các bên liên quan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553048" y="5074920"/>
            <a:ext cx="295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người mua – chủ TS – đơn vị ĐG – đối tác dịch vụ.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Khung trí tuệ đấu giá — 4 lớp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5377" y="2240280"/>
            <a:ext cx="731520" cy="7315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đa nguồn + bóc tách PDF → dữ liệu có cấu trúc, phân loại tài sản.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31922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25114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1851" y="2240280"/>
            <a:ext cx="731520" cy="7315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4231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2274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26282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đấu giá, tỷ lệ thành công, xu hướng giá khu vực.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08396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301588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68325" y="2240280"/>
            <a:ext cx="731520" cy="73152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4231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8748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(lõi)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02756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giá trúng + khuyến nghị nên tham gia hay không.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84869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178061" y="1920240"/>
            <a:ext cx="2464994" cy="2743200"/>
          </a:xfrm>
          <a:prstGeom prst="roundRect">
            <a:avLst>
              <a:gd name="adj" fmla="val 2968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44798" y="2240280"/>
            <a:ext cx="731520" cy="73152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4231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5221" y="3108960"/>
            <a:ext cx="21906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79229" y="3520440"/>
            <a:ext cx="2062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đúng tài sản tới đúng người — cá nhân hoá trải nghiệm.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lớp tăng giá trị: từ dữ liệu → ngữ cảnh → quyết định → cá nhân hoá.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Tính năng &amp; giá trị theo 3 nhóm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4298" cy="4526280"/>
          </a:xfrm>
          <a:prstGeom prst="roundRect">
            <a:avLst>
              <a:gd name="adj" fmla="val 2118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226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săn tài sản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nơi xem giá – dự đoán – quyết định bid; tiết kiệm 4–6h &amp; giảm rủi ro mất cọc.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905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CHÍNH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41248" y="370332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đấu giá &amp; bộ lọc nâng cao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nhu cầu &amp; hồ sơ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thị trường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giá &amp; recommendation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tài sản tương tự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ví credit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5532120"/>
            <a:ext cx="2905658" cy="438912"/>
          </a:xfrm>
          <a:prstGeom prst="roundRect">
            <a:avLst>
              <a:gd name="adj" fmla="val 12500"/>
            </a:avLst>
          </a:prstGeom>
          <a:solidFill>
            <a:srgbClr val="16395E"/>
          </a:solidFill>
          <a:ln/>
        </p:spPr>
      </p:sp>
      <p:sp>
        <p:nvSpPr>
          <p:cNvPr id="12" name="Shape 9"/>
          <p:cNvSpPr/>
          <p:nvPr/>
        </p:nvSpPr>
        <p:spPr>
          <a:xfrm>
            <a:off x="932688" y="5596128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5673852"/>
            <a:ext cx="155448" cy="1554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556869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cơ hội 50k (2cr)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68698" y="1554480"/>
            <a:ext cx="3454298" cy="4526280"/>
          </a:xfrm>
          <a:prstGeom prst="roundRect">
            <a:avLst>
              <a:gd name="adj" fmla="val 2118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43018" y="1828800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750" y="197053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8818" y="1865376"/>
            <a:ext cx="226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ty đấu giá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643018" y="25146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 buyer pool có sẵn + số hoá hồ sơ năng lực, giảm phiên hỏng.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43018" y="3429000"/>
            <a:ext cx="2905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CHÍNH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61306" y="370332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hồ sơ năng lực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quản lý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dự tuyển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/ Featured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khách hàng &amp; đối thủ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đấu giá viên &amp; ví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43018" y="5532120"/>
            <a:ext cx="2905658" cy="438912"/>
          </a:xfrm>
          <a:prstGeom prst="roundRect">
            <a:avLst>
              <a:gd name="adj" fmla="val 12500"/>
            </a:avLst>
          </a:prstGeom>
          <a:solidFill>
            <a:srgbClr val="EAF3EC"/>
          </a:solidFill>
          <a:ln/>
        </p:spPr>
      </p:sp>
      <p:sp>
        <p:nvSpPr>
          <p:cNvPr id="23" name="Shape 18"/>
          <p:cNvSpPr/>
          <p:nvPr/>
        </p:nvSpPr>
        <p:spPr>
          <a:xfrm>
            <a:off x="4752746" y="5596128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470" y="5673852"/>
            <a:ext cx="155448" cy="1554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45938" y="556869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hồ sơ dự tuyển 750k (30cr)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88757" y="1554480"/>
            <a:ext cx="3454298" cy="4526280"/>
          </a:xfrm>
          <a:prstGeom prst="roundRect">
            <a:avLst>
              <a:gd name="adj" fmla="val 2118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463077" y="1828800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809" y="197053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48877" y="1865376"/>
            <a:ext cx="226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tài sản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8463077" y="251460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hoá tài sản &amp; chọn đơn vị ĐG theo track record, rút ngắn thanh lý.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463077" y="3429000"/>
            <a:ext cx="2905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CHÍNH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481365" y="3703320"/>
            <a:ext cx="288737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số hoá tài sản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quản lý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cuộc đấu giá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danh mục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CTĐG phù hợp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&amp; ví credit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463077" y="5532120"/>
            <a:ext cx="2905658" cy="438912"/>
          </a:xfrm>
          <a:prstGeom prst="roundRect">
            <a:avLst>
              <a:gd name="adj" fmla="val 12500"/>
            </a:avLst>
          </a:prstGeom>
          <a:solidFill>
            <a:srgbClr val="EAF3EC"/>
          </a:solidFill>
          <a:ln/>
        </p:spPr>
      </p:sp>
      <p:sp>
        <p:nvSpPr>
          <p:cNvPr id="34" name="Shape 27"/>
          <p:cNvSpPr/>
          <p:nvPr/>
        </p:nvSpPr>
        <p:spPr>
          <a:xfrm>
            <a:off x="8572805" y="5596128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529" y="5673852"/>
            <a:ext cx="155448" cy="1554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965997" y="5568696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danh mục 100k (4cr)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LÕI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Lõi trí tuệ — phục vụ cả 3 nhóm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lõi Intelligence — câu hỏi quyết định của mỗi nhóm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7660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96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săn tài sản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08760" y="2834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“Nên bid bao nhiêu?”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08760" y="31455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trúng dự đoán — vd 2.3–2.6 tỷ (+15%)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3630168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7444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575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đấu giá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508760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“Khách hàng &amp; đối thủ là ai?”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508760" y="4123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Chân dung khách hàng + phân tích đối thủ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14400" y="4608576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7228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553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tài sản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508760" y="47914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“Định giá &amp; chọn đơn vị nào?”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508760" y="5102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giá tham chiếu + gợi ý CTĐG phù hợp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669280" y="16459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0" y="17945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93167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75120" y="18105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Intelligence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675120" y="21488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giá trúng + so giá khởi điểm + so thị trường.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69280" y="26746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0" y="28232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96037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75120" y="28392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675120" y="31775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Source · Owner · Market intelligence.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669280" y="37033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943600" y="38519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98907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38679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6675120" y="42062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tốt · Cân nhắc · Rủi ro cao.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669280" y="4732020"/>
            <a:ext cx="5973775" cy="845820"/>
          </a:xfrm>
          <a:prstGeom prst="roundRect">
            <a:avLst>
              <a:gd name="adj" fmla="val 8649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943600" y="4880610"/>
            <a:ext cx="548640" cy="54864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5017770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675120" y="489661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6675120" y="523494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tài sản / công ty / thị trường / nhóm TS.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CẠNH TRANH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xoáy dữ liệu — moat cộng dồn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Flywheel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77063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70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từ cả 3 nhóm: người mua · công ty ĐG · chủ tài sản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" y="3108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2E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38328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5021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401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dự đoán &amp; báo cáo mạnh dần, chính xác hơn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51560" y="3840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2E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14400" y="411480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23367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133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tốt hơn cho mọi bên → nhiều người dùng &amp; giao dịch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51560" y="45720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2E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4400" y="4846320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9651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dữ liệu hơn → quay lại đầu vòng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583680" y="1783080"/>
            <a:ext cx="5059375" cy="3840480"/>
          </a:xfrm>
          <a:prstGeom prst="roundRect">
            <a:avLst>
              <a:gd name="adj" fmla="val 1905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949440" y="2039112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Loop → cộng dồn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49440" y="242316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→ Understanding → Decision → Personalization → lặp lại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949440" y="3063240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319125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89520" y="3044952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589520" y="3319272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thao tác giá trị mỗi phiên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949440" y="3904488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4032504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589520" y="388620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589520" y="416052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quay lại theo mỗi cơ hội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949440" y="4745736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56" y="4873752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589520" y="472744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7589520" y="500176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khoảnh khắc unlock kiếm tiền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KINH DOANH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thu phí theo từng ví (role)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EF4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phí tại khoảnh khắc quyết định  </a:t>
            </a:r>
            <a:pPr indent="0" marL="0">
              <a:buNone/>
            </a:pPr>
            <a:r>
              <a:rPr lang="en-US" sz="13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neo 1 credit = 25.000đ · ví tách theo role, credit không tiêu chéo.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5429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706624"/>
            <a:ext cx="475488" cy="47548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8254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2724912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Người mua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48386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41071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cơ hội đấu giá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78992" y="365760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 · 50.000đ   ·   </a:t>
            </a:r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41248" y="4032504"/>
            <a:ext cx="128016" cy="128016"/>
          </a:xfrm>
          <a:prstGeom prst="ellipse">
            <a:avLst/>
          </a:prstGeom>
          <a:solidFill>
            <a:srgbClr val="C8951A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395935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nâng cao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420624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 · 25.000đ   ·   </a:t>
            </a:r>
            <a:pPr indent="0" marL="0">
              <a:buNone/>
            </a:pPr>
            <a:r>
              <a:rPr lang="en-US" sz="950" b="1" dirty="0">
                <a:solidFill>
                  <a:srgbClr val="C89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thu phí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41248" y="458114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450799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công ty / chủ 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78992" y="475488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 / 365 ngày   ·   </a:t>
            </a:r>
            <a:pPr indent="0" marL="0">
              <a:buNone/>
            </a:pP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" y="512978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20" name="Text 17"/>
          <p:cNvSpPr/>
          <p:nvPr/>
        </p:nvSpPr>
        <p:spPr>
          <a:xfrm>
            <a:off x="1078992" y="505663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nhu cầu / Deep report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78992" y="530352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pPr indent="0" marL="0">
              <a:buNone/>
            </a:pP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8698" y="2468880"/>
            <a:ext cx="345429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24730" y="2706624"/>
            <a:ext cx="475488" cy="47548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602" y="2825496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09946" y="2724912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Công ty đấu giá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661306" y="348386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7" name="Text 23"/>
          <p:cNvSpPr/>
          <p:nvPr/>
        </p:nvSpPr>
        <p:spPr>
          <a:xfrm>
            <a:off x="4899050" y="341071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hồ sơ dự tuyển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99050" y="365760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cr · 750.000đ   ·   </a:t>
            </a:r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661306" y="403250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30" name="Text 26"/>
          <p:cNvSpPr/>
          <p:nvPr/>
        </p:nvSpPr>
        <p:spPr>
          <a:xfrm>
            <a:off x="4899050" y="395935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/ Featured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99050" y="420624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lượt   ·   </a:t>
            </a:r>
            <a:pPr indent="0" marL="0">
              <a:buNone/>
            </a:pP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661306" y="458114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33" name="Text 29"/>
          <p:cNvSpPr/>
          <p:nvPr/>
        </p:nvSpPr>
        <p:spPr>
          <a:xfrm>
            <a:off x="4899050" y="450799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khách hàng &amp; đối thủ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99050" y="475488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</a:t>
            </a:r>
            <a:pPr indent="0" marL="0">
              <a:buNone/>
            </a:pP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188757" y="2468880"/>
            <a:ext cx="3454298" cy="3200400"/>
          </a:xfrm>
          <a:prstGeom prst="roundRect">
            <a:avLst>
              <a:gd name="adj" fmla="val 2286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444789" y="2706624"/>
            <a:ext cx="475488" cy="47548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661" y="2825496"/>
            <a:ext cx="237744" cy="23774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030005" y="2724912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Chủ tài sản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8481365" y="3483864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0" name="Text 35"/>
          <p:cNvSpPr/>
          <p:nvPr/>
        </p:nvSpPr>
        <p:spPr>
          <a:xfrm>
            <a:off x="8719109" y="341071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danh mục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719109" y="365760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 · 100.000đ   ·   </a:t>
            </a:r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481365" y="403250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43" name="Text 38"/>
          <p:cNvSpPr/>
          <p:nvPr/>
        </p:nvSpPr>
        <p:spPr>
          <a:xfrm>
            <a:off x="8719109" y="395935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8719109" y="420624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giá trúng   ·   </a:t>
            </a:r>
            <a:pPr indent="0" marL="0">
              <a:buNone/>
            </a:pP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8481365" y="4581144"/>
            <a:ext cx="128016" cy="128016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46" name="Text 41"/>
          <p:cNvSpPr/>
          <p:nvPr/>
        </p:nvSpPr>
        <p:spPr>
          <a:xfrm>
            <a:off x="8719109" y="4507992"/>
            <a:ext cx="2677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8719109" y="4754880"/>
            <a:ext cx="2677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lượt   ·   </a:t>
            </a:r>
            <a:pPr indent="0" marL="0">
              <a:buNone/>
            </a:pPr>
            <a:r>
              <a:rPr lang="en-US" sz="95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548640" y="5833872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914400" y="592531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thu phí từ ngày đầu (3 dịch vụ LIVE)  </a:t>
            </a:r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Gói nạp credit theo ví — bội số giá dịch vụ, thưởng tới ~27%.</a:t>
            </a:r>
            <a:endParaRPr lang="en-US" sz="1150" dirty="0"/>
          </a:p>
        </p:txBody>
      </p:sp>
      <p:sp>
        <p:nvSpPr>
          <p:cNvPr id="50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DOANH THU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dữ liệu — nhiều động cơ (mô hình 2S)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55648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51660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37360"/>
            <a:ext cx="9951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Lõi: dữ liệu đấu giá chuẩn hoá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692.670+ tài sản · 570.560+ phiên · càng dùng càng dày → nuôi mọi dòng doanh thu.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53288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· </a:t>
            </a:r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theo khối lượng giao dịch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78728" y="253288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BỀN VỮNG · </a:t>
            </a:r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— lặp lại, biên cao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10896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2232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02666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Credit &amp; báo cáo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17320" y="335584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săn tài sản · pay-per-decision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32808" y="3172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/>
        </p:spPr>
      </p:sp>
      <p:sp>
        <p:nvSpPr>
          <p:cNvPr id="16" name="Text 12"/>
          <p:cNvSpPr/>
          <p:nvPr/>
        </p:nvSpPr>
        <p:spPr>
          <a:xfrm>
            <a:off x="4632808" y="31729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16052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27482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07822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Listing / Featured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17320" y="440740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đấu giá · hồ sơ + đẩy tin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32808" y="42245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/>
        </p:spPr>
      </p:sp>
      <p:sp>
        <p:nvSpPr>
          <p:cNvPr id="23" name="Text 18"/>
          <p:cNvSpPr/>
          <p:nvPr/>
        </p:nvSpPr>
        <p:spPr>
          <a:xfrm>
            <a:off x="4632808" y="42245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 phần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" y="49834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521208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32638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512978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— Success fee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417320" y="545896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tài sản · % giá trúng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632808" y="527608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BEBCF"/>
          </a:solidFill>
          <a:ln/>
        </p:spPr>
      </p:sp>
      <p:sp>
        <p:nvSpPr>
          <p:cNvPr id="30" name="Text 24"/>
          <p:cNvSpPr/>
          <p:nvPr/>
        </p:nvSpPr>
        <p:spPr>
          <a:xfrm>
            <a:off x="4632808" y="52760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ra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278728" y="288036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534760" y="310896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060" y="322326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47408" y="302666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subscription / API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7147408" y="335584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 · thẩm định · R&amp;D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10362895" y="3172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1EFEF"/>
          </a:solidFill>
          <a:ln/>
        </p:spPr>
      </p:sp>
      <p:sp>
        <p:nvSpPr>
          <p:cNvPr id="37" name="Text 30"/>
          <p:cNvSpPr/>
          <p:nvPr/>
        </p:nvSpPr>
        <p:spPr>
          <a:xfrm>
            <a:off x="10362895" y="31729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Tiềm năng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278728" y="393192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534760" y="416052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060" y="427482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47408" y="4078224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— Dữ liệu &amp; báo cáo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7147408" y="4407408"/>
            <a:ext cx="316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quan nhà nước · quản lý, hoạch định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10362895" y="42245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1EFEF"/>
          </a:solidFill>
          <a:ln/>
        </p:spPr>
      </p:sp>
      <p:sp>
        <p:nvSpPr>
          <p:cNvPr id="44" name="Text 36"/>
          <p:cNvSpPr/>
          <p:nvPr/>
        </p:nvSpPr>
        <p:spPr>
          <a:xfrm>
            <a:off x="10362895" y="42245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Tiềm năng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278728" y="49834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0F2742"/>
          </a:solidFill>
          <a:ln/>
        </p:spPr>
      </p:sp>
      <p:sp>
        <p:nvSpPr>
          <p:cNvPr id="46" name="Shape 38"/>
          <p:cNvSpPr/>
          <p:nvPr/>
        </p:nvSpPr>
        <p:spPr>
          <a:xfrm>
            <a:off x="6534760" y="5212080"/>
            <a:ext cx="457200" cy="457200"/>
          </a:xfrm>
          <a:prstGeom prst="ellipse">
            <a:avLst/>
          </a:prstGeom>
          <a:solidFill>
            <a:srgbClr val="2B8A8A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9060" y="5326380"/>
            <a:ext cx="228600" cy="22860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147408" y="5148072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“ngôi sao” với nhà đầu tư:  </a:t>
            </a:r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lặp lại, biên cao, khó copy — moat dài hạn từ chính dữ liệu độc quyền.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Sàn đã LIVE: nền dữ liệu lớn + tín hiệu sớm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43100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9905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vận hành tại taisandaugia.vn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nền tảng phục vụ 3 nhóm, đã thu phí từ 3 dịch vụ LIVE.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PHỦ DỮ LIỆU ĐẤU GIÁ TOÀN QUỐC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2499284" cy="1417320"/>
          </a:xfrm>
          <a:prstGeom prst="roundRect">
            <a:avLst>
              <a:gd name="adj" fmla="val 5161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14818" y="3163824"/>
            <a:ext cx="566928" cy="56692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550" y="3305556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7947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692.670+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40080" y="4133088"/>
            <a:ext cx="231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13684" y="2926080"/>
            <a:ext cx="2499284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79862" y="3163824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594" y="330555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05124" y="37947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570.560+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3505124" y="4133088"/>
            <a:ext cx="231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Cuộc đấu giá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8728" y="2926080"/>
            <a:ext cx="2499284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44905" y="3163824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637" y="330555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70168" y="37947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670+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6370168" y="4133088"/>
            <a:ext cx="231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đấu giá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143771" y="2926080"/>
            <a:ext cx="2499284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09949" y="3163824"/>
            <a:ext cx="566928" cy="566928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681" y="3305556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5211" y="37947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60.000+</a:t>
            </a:r>
            <a:endParaRPr lang="en-US" sz="2300" dirty="0"/>
          </a:p>
        </p:txBody>
      </p:sp>
      <p:sp>
        <p:nvSpPr>
          <p:cNvPr id="28" name="Text 21"/>
          <p:cNvSpPr/>
          <p:nvPr/>
        </p:nvSpPr>
        <p:spPr>
          <a:xfrm>
            <a:off x="9235211" y="4133088"/>
            <a:ext cx="231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truy cập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457200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/>
        </p:spPr>
      </p:sp>
      <p:sp>
        <p:nvSpPr>
          <p:cNvPr id="30" name="Text 23"/>
          <p:cNvSpPr/>
          <p:nvPr/>
        </p:nvSpPr>
        <p:spPr>
          <a:xfrm>
            <a:off x="914400" y="471830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5.000+ thành viên tin tưởng  ·  </a:t>
            </a:r>
            <a:pPr indent="0" marL="0">
              <a:buNone/>
            </a:pPr>
            <a:r>
              <a:rPr lang="en-US" sz="11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thu phí từ ngày đầu (báo cáo cơ hội · hồ sơ dự tuyển · báo cáo danh mục)  ·  ra mắt chính thức 23/06/2026.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CẠNH TRANH &amp; ĐỊNH VỊ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chúng tôi có lớp Decision Intelligence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1828800"/>
                <a:gridCol w="22219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Cổng Bộ Tư pháp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công ty ĐG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Zalo/FB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A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Sản Đấu Giá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Gom đa nguồn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Bóc tách PDF → dữ liệu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Lịch sử &amp; chuẩn giá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 đoán giá trúng (AI)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nghị &amp; cá nhân hoá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66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Xác nhận lại danh sách đối thủ cụ thể với đội ngũ trước buổi pitch.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sản phẩm &amp; mở rộng hệ sinh thái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512064" cy="512064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920240"/>
            <a:ext cx="2402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săn tài sản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28873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pricing intelligence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chuyên sâu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tài sản tương tự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tin tức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hằng ngày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6459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4730" y="1901952"/>
            <a:ext cx="512064" cy="512064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46" y="20299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4810" y="1920240"/>
            <a:ext cx="2402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ty đấu giá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61306" y="2606040"/>
            <a:ext cx="28873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khách hàng &amp; đối thủ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ĐGV theo phiên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nội bộ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viên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phiên hợp hồ sơ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16459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4789" y="1901952"/>
            <a:ext cx="512064" cy="512064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805" y="20299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4869" y="1920240"/>
            <a:ext cx="2402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 tài sản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81365" y="2606040"/>
            <a:ext cx="28873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CTĐG phù hợp profile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chuyên sâu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HST: định giá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pháp lý chuyển nhượng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9377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HỆ SINH THÁI (SAU MVP)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4400" y="5468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56412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5486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505124" y="5468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136" y="5564124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08044" y="5486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sư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095848" y="5468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860" y="5564124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98768" y="5486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viên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686571" y="5468112"/>
            <a:ext cx="384048" cy="38404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2583" y="5564124"/>
            <a:ext cx="192024" cy="1920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89491" y="5486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giá viên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Đứng sau là SS Corp Việt Nam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916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9722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TNHH Giải pháp Xã hội SS Corp Việt Nam  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taisandaugia.vn · spms2.com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295144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trở thành hạ tầng công nghệ phục vụ kinh tế số.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86802" y="3291840"/>
            <a:ext cx="822960" cy="82296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42" y="34975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Vũ Hiệp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85800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dự án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31520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&amp; vận hành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13684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E9EEF4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51846" y="3291840"/>
            <a:ext cx="822960" cy="822960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86" y="34975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50844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[Họ tên]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3550844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Trưởng Sản phẩm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596564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phát triển sản phẩm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78728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E9EEF4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16889" y="3291840"/>
            <a:ext cx="822960" cy="822960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630" y="349758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15888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[Họ tên]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15888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Data / AI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61608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&amp; phân tích dữ liệu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143771" y="3017520"/>
            <a:ext cx="2499284" cy="2377440"/>
          </a:xfrm>
          <a:prstGeom prst="roundRect">
            <a:avLst>
              <a:gd name="adj" fmla="val 3077"/>
            </a:avLst>
          </a:prstGeom>
          <a:solidFill>
            <a:srgbClr val="E9EEF4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981933" y="3291840"/>
            <a:ext cx="822960" cy="822960"/>
          </a:xfrm>
          <a:prstGeom prst="ellipse">
            <a:avLst/>
          </a:prstGeom>
          <a:solidFill>
            <a:srgbClr val="16395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7673" y="349758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80931" y="42062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[Họ tên]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9280931" y="4526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 vấn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326651" y="482803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môn / đầu tư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phóng &amp; Unit economics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93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phóng doanh thu 3–5 năm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950976" cy="411480"/>
          </a:xfrm>
          <a:prstGeom prst="roundRect">
            <a:avLst>
              <a:gd name="adj" fmla="val 8889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93976" y="3806190"/>
            <a:ext cx="950976" cy="720090"/>
          </a:xfrm>
          <a:prstGeom prst="roundRect">
            <a:avLst>
              <a:gd name="adj" fmla="val 5079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2536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3497580"/>
            <a:ext cx="950976" cy="1028700"/>
          </a:xfrm>
          <a:prstGeom prst="roundRect">
            <a:avLst>
              <a:gd name="adj" fmla="val 38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3128" y="3188970"/>
            <a:ext cx="950976" cy="1337310"/>
          </a:xfrm>
          <a:prstGeom prst="roundRect">
            <a:avLst>
              <a:gd name="adj" fmla="val 38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32704" y="2880360"/>
            <a:ext cx="950976" cy="1645920"/>
          </a:xfrm>
          <a:prstGeom prst="roundRect">
            <a:avLst>
              <a:gd name="adj" fmla="val 3846"/>
            </a:avLst>
          </a:prstGeom>
          <a:solidFill>
            <a:srgbClr val="E0A82E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45994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526280"/>
            <a:ext cx="566928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240280"/>
            <a:ext cx="457200" cy="457200"/>
          </a:xfrm>
          <a:prstGeom prst="ellipse">
            <a:avLst/>
          </a:prstGeom>
          <a:solidFill>
            <a:srgbClr val="0F274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2354580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5029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Số minh hoạ — điền doanh thu / chi phí / điểm hoà vốn khi có dữ liệu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0" y="173736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0" y="2103120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89520" y="2212848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89520" y="2487168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thu hút 1 khách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479128" y="2286000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[___]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315200" y="2807208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589520" y="2916936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589520" y="3191256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vòng đời khách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479128" y="2990088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[___]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315200" y="3511296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89520" y="3621024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589520" y="3895344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số hiệu quả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479128" y="3694176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[__x]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315200" y="4215384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589520" y="4325112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589520" y="4599432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hoàn vốn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479128" y="4398264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 tháng]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7315200" y="4919472"/>
            <a:ext cx="4327855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114300" dist="38100" dir="5400000">
              <a:srgbClr val="0F2742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589520" y="5029200"/>
            <a:ext cx="216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589520" y="5303520"/>
            <a:ext cx="259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lợi nhuận gộp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479128" y="5102352"/>
            <a:ext cx="188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98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Đấu Giá · SS Corp Việt Nam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tôi đang gọi vốn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0A8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TIỀN GỌI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 USD / tỷ đ]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6395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LẤY (EQUITY)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[___ %]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VỐN VÀO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41198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&amp; AI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02254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18" name="Shape 15"/>
          <p:cNvSpPr/>
          <p:nvPr/>
        </p:nvSpPr>
        <p:spPr>
          <a:xfrm>
            <a:off x="3630854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154" y="441198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25214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630854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hạ tầng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255868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23" name="Shape 19"/>
          <p:cNvSpPr/>
          <p:nvPr/>
        </p:nvSpPr>
        <p:spPr>
          <a:xfrm>
            <a:off x="6484468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441198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78828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84468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marketing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9109481" y="4069080"/>
            <a:ext cx="2533574" cy="1280160"/>
          </a:xfrm>
          <a:prstGeom prst="roundRect">
            <a:avLst>
              <a:gd name="adj" fmla="val 4286"/>
            </a:avLst>
          </a:prstGeom>
          <a:solidFill>
            <a:srgbClr val="16395E"/>
          </a:solidFill>
          <a:ln/>
        </p:spPr>
      </p:sp>
      <p:sp>
        <p:nvSpPr>
          <p:cNvPr id="28" name="Shape 23"/>
          <p:cNvSpPr/>
          <p:nvPr/>
        </p:nvSpPr>
        <p:spPr>
          <a:xfrm>
            <a:off x="9338081" y="429768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381" y="441198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932441" y="4288536"/>
            <a:ext cx="16191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[__%]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338081" y="4910328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Tuyển dụng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đạt được trước vòng sau:  ⚠ [____]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88575" y="3474720"/>
            <a:ext cx="2743200" cy="2743200"/>
          </a:xfrm>
          <a:prstGeom prst="ellipse">
            <a:avLst/>
          </a:prstGeom>
          <a:solidFill>
            <a:srgbClr val="E0A82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028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công cụ định giá → hạ tầng giao dịch tài sản toàn diện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tài sản → định giá → đấu giá → vay vốn → pháp lý → sang tên — hạ tầng công nghệ cho kinh tế số, phục vụ doanh nghiệp, ngân hàng và cơ quan nhà nước.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15400" y="4069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395E"/>
          </a:solidFill>
          <a:ln/>
        </p:spPr>
      </p:sp>
      <p:sp>
        <p:nvSpPr>
          <p:cNvPr id="16" name="Text 13"/>
          <p:cNvSpPr/>
          <p:nvPr/>
        </p:nvSpPr>
        <p:spPr>
          <a:xfrm>
            <a:off x="891540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Analytics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Vietnam &amp; Hanoi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tư duy chủ động làm chủ công nghệ &amp; dữ liệu số.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440680"/>
            <a:ext cx="2743200" cy="0"/>
          </a:xfrm>
          <a:prstGeom prst="line">
            <a:avLst/>
          </a:prstGeom>
          <a:noFill/>
          <a:ln w="25400">
            <a:solidFill>
              <a:srgbClr val="E0A8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577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“Trả tiền cho sự tự tin — không phải cho dữ liệu.”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486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taisandaugia.vn  ·  SS Corp Việt Nam  ·  Phạm Vũ Hiệp — 0913 383 879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Tài Sản Đấu Giá — Pitch IDG</dc:title>
  <dc:subject>PptxGenJS Presentation</dc:subject>
  <dc:creator>SS Corp Việt Nam</dc:creator>
  <cp:lastModifiedBy>SS Corp Việt Nam</cp:lastModifiedBy>
  <cp:revision>1</cp:revision>
  <dcterms:created xsi:type="dcterms:W3CDTF">2026-06-17T13:31:23Z</dcterms:created>
  <dcterms:modified xsi:type="dcterms:W3CDTF">2026-06-17T13:31:23Z</dcterms:modified>
</cp:coreProperties>
</file>